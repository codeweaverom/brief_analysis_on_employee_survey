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6" r:id="rId13"/>
    <p:sldId id="273" r:id="rId14"/>
    <p:sldId id="274" r:id="rId15"/>
    <p:sldId id="270" r:id="rId16"/>
    <p:sldId id="272" r:id="rId17"/>
    <p:sldId id="271" r:id="rId18"/>
    <p:sldId id="267" r:id="rId19"/>
    <p:sldId id="268" r:id="rId20"/>
    <p:sldId id="275" r:id="rId21"/>
    <p:sldId id="26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8FBD3"/>
    <a:srgbClr val="31326F"/>
    <a:srgbClr val="637AB9"/>
    <a:srgbClr val="4FB7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1330"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4110A-74E7-C694-F8A2-B4A8DCB463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41A7C6E-4357-86CB-94BE-1C4EF442A9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9FC6474-FCD0-15D9-57A6-9FF1F9FA3765}"/>
              </a:ext>
            </a:extLst>
          </p:cNvPr>
          <p:cNvSpPr>
            <a:spLocks noGrp="1"/>
          </p:cNvSpPr>
          <p:nvPr>
            <p:ph type="dt" sz="half" idx="10"/>
          </p:nvPr>
        </p:nvSpPr>
        <p:spPr/>
        <p:txBody>
          <a:bodyPr/>
          <a:lstStyle/>
          <a:p>
            <a:fld id="{01F179B8-54A4-4DCE-9149-D502D1A3B727}" type="datetimeFigureOut">
              <a:rPr lang="en-IN" smtClean="0"/>
              <a:t>08-11-2025</a:t>
            </a:fld>
            <a:endParaRPr lang="en-IN"/>
          </a:p>
        </p:txBody>
      </p:sp>
      <p:sp>
        <p:nvSpPr>
          <p:cNvPr id="5" name="Footer Placeholder 4">
            <a:extLst>
              <a:ext uri="{FF2B5EF4-FFF2-40B4-BE49-F238E27FC236}">
                <a16:creationId xmlns:a16="http://schemas.microsoft.com/office/drawing/2014/main" id="{012D7DB5-2403-C50A-BE3A-922B9A335F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DFCB27-CEC2-05D7-1560-78513F64A6F7}"/>
              </a:ext>
            </a:extLst>
          </p:cNvPr>
          <p:cNvSpPr>
            <a:spLocks noGrp="1"/>
          </p:cNvSpPr>
          <p:nvPr>
            <p:ph type="sldNum" sz="quarter" idx="12"/>
          </p:nvPr>
        </p:nvSpPr>
        <p:spPr/>
        <p:txBody>
          <a:bodyPr/>
          <a:lstStyle/>
          <a:p>
            <a:fld id="{00AF4A92-E274-4967-81D7-9440FEBE14BD}" type="slidenum">
              <a:rPr lang="en-IN" smtClean="0"/>
              <a:t>‹#›</a:t>
            </a:fld>
            <a:endParaRPr lang="en-IN"/>
          </a:p>
        </p:txBody>
      </p:sp>
    </p:spTree>
    <p:extLst>
      <p:ext uri="{BB962C8B-B14F-4D97-AF65-F5344CB8AC3E}">
        <p14:creationId xmlns:p14="http://schemas.microsoft.com/office/powerpoint/2010/main" val="34270261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B565E-4B69-0452-ED47-BD451F8926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865BF0-6C64-60B6-FA44-0EB3DD0775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2EB230-F1B8-D164-4023-78E2C9CB8BC0}"/>
              </a:ext>
            </a:extLst>
          </p:cNvPr>
          <p:cNvSpPr>
            <a:spLocks noGrp="1"/>
          </p:cNvSpPr>
          <p:nvPr>
            <p:ph type="dt" sz="half" idx="10"/>
          </p:nvPr>
        </p:nvSpPr>
        <p:spPr/>
        <p:txBody>
          <a:bodyPr/>
          <a:lstStyle/>
          <a:p>
            <a:fld id="{01F179B8-54A4-4DCE-9149-D502D1A3B727}" type="datetimeFigureOut">
              <a:rPr lang="en-IN" smtClean="0"/>
              <a:t>08-11-2025</a:t>
            </a:fld>
            <a:endParaRPr lang="en-IN"/>
          </a:p>
        </p:txBody>
      </p:sp>
      <p:sp>
        <p:nvSpPr>
          <p:cNvPr id="5" name="Footer Placeholder 4">
            <a:extLst>
              <a:ext uri="{FF2B5EF4-FFF2-40B4-BE49-F238E27FC236}">
                <a16:creationId xmlns:a16="http://schemas.microsoft.com/office/drawing/2014/main" id="{7F279A19-55C4-A210-A704-84B01A9188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CDFE6C-1DC8-9578-5D90-8B1847E684D2}"/>
              </a:ext>
            </a:extLst>
          </p:cNvPr>
          <p:cNvSpPr>
            <a:spLocks noGrp="1"/>
          </p:cNvSpPr>
          <p:nvPr>
            <p:ph type="sldNum" sz="quarter" idx="12"/>
          </p:nvPr>
        </p:nvSpPr>
        <p:spPr/>
        <p:txBody>
          <a:bodyPr/>
          <a:lstStyle/>
          <a:p>
            <a:fld id="{00AF4A92-E274-4967-81D7-9440FEBE14BD}" type="slidenum">
              <a:rPr lang="en-IN" smtClean="0"/>
              <a:t>‹#›</a:t>
            </a:fld>
            <a:endParaRPr lang="en-IN"/>
          </a:p>
        </p:txBody>
      </p:sp>
    </p:spTree>
    <p:extLst>
      <p:ext uri="{BB962C8B-B14F-4D97-AF65-F5344CB8AC3E}">
        <p14:creationId xmlns:p14="http://schemas.microsoft.com/office/powerpoint/2010/main" val="36916298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DC625-0EE1-ED10-9A0B-CB7414B939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62E28AC-433A-3ADE-0ABB-46CB5BAAA4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399697-D8C6-842C-FF17-9DF808E7F311}"/>
              </a:ext>
            </a:extLst>
          </p:cNvPr>
          <p:cNvSpPr>
            <a:spLocks noGrp="1"/>
          </p:cNvSpPr>
          <p:nvPr>
            <p:ph type="dt" sz="half" idx="10"/>
          </p:nvPr>
        </p:nvSpPr>
        <p:spPr/>
        <p:txBody>
          <a:bodyPr/>
          <a:lstStyle/>
          <a:p>
            <a:fld id="{01F179B8-54A4-4DCE-9149-D502D1A3B727}" type="datetimeFigureOut">
              <a:rPr lang="en-IN" smtClean="0"/>
              <a:t>08-11-2025</a:t>
            </a:fld>
            <a:endParaRPr lang="en-IN"/>
          </a:p>
        </p:txBody>
      </p:sp>
      <p:sp>
        <p:nvSpPr>
          <p:cNvPr id="5" name="Footer Placeholder 4">
            <a:extLst>
              <a:ext uri="{FF2B5EF4-FFF2-40B4-BE49-F238E27FC236}">
                <a16:creationId xmlns:a16="http://schemas.microsoft.com/office/drawing/2014/main" id="{8F9DF62C-E735-70EA-D680-234A03149A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18B483-3D77-4A73-047E-67FE01DCC62F}"/>
              </a:ext>
            </a:extLst>
          </p:cNvPr>
          <p:cNvSpPr>
            <a:spLocks noGrp="1"/>
          </p:cNvSpPr>
          <p:nvPr>
            <p:ph type="sldNum" sz="quarter" idx="12"/>
          </p:nvPr>
        </p:nvSpPr>
        <p:spPr/>
        <p:txBody>
          <a:bodyPr/>
          <a:lstStyle/>
          <a:p>
            <a:fld id="{00AF4A92-E274-4967-81D7-9440FEBE14BD}" type="slidenum">
              <a:rPr lang="en-IN" smtClean="0"/>
              <a:t>‹#›</a:t>
            </a:fld>
            <a:endParaRPr lang="en-IN"/>
          </a:p>
        </p:txBody>
      </p:sp>
    </p:spTree>
    <p:extLst>
      <p:ext uri="{BB962C8B-B14F-4D97-AF65-F5344CB8AC3E}">
        <p14:creationId xmlns:p14="http://schemas.microsoft.com/office/powerpoint/2010/main" val="29948338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3B59E-CFD6-9E51-FCF7-EE083729D4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896341-6D5B-F10A-98F1-51D0EDE607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2544F21-26DB-2EE6-6E75-AB332414FC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0BD3FDC-4C58-1700-620D-E5F15657FEF7}"/>
              </a:ext>
            </a:extLst>
          </p:cNvPr>
          <p:cNvSpPr>
            <a:spLocks noGrp="1"/>
          </p:cNvSpPr>
          <p:nvPr>
            <p:ph type="dt" sz="half" idx="10"/>
          </p:nvPr>
        </p:nvSpPr>
        <p:spPr/>
        <p:txBody>
          <a:bodyPr/>
          <a:lstStyle/>
          <a:p>
            <a:fld id="{01F179B8-54A4-4DCE-9149-D502D1A3B727}" type="datetimeFigureOut">
              <a:rPr lang="en-IN" smtClean="0"/>
              <a:t>08-11-2025</a:t>
            </a:fld>
            <a:endParaRPr lang="en-IN"/>
          </a:p>
        </p:txBody>
      </p:sp>
      <p:sp>
        <p:nvSpPr>
          <p:cNvPr id="6" name="Footer Placeholder 5">
            <a:extLst>
              <a:ext uri="{FF2B5EF4-FFF2-40B4-BE49-F238E27FC236}">
                <a16:creationId xmlns:a16="http://schemas.microsoft.com/office/drawing/2014/main" id="{FAFD895B-BEC2-BA50-E90D-55508554DA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B90874D-3476-398D-6B4F-6950667275FB}"/>
              </a:ext>
            </a:extLst>
          </p:cNvPr>
          <p:cNvSpPr>
            <a:spLocks noGrp="1"/>
          </p:cNvSpPr>
          <p:nvPr>
            <p:ph type="sldNum" sz="quarter" idx="12"/>
          </p:nvPr>
        </p:nvSpPr>
        <p:spPr/>
        <p:txBody>
          <a:bodyPr/>
          <a:lstStyle/>
          <a:p>
            <a:fld id="{00AF4A92-E274-4967-81D7-9440FEBE14BD}" type="slidenum">
              <a:rPr lang="en-IN" smtClean="0"/>
              <a:t>‹#›</a:t>
            </a:fld>
            <a:endParaRPr lang="en-IN"/>
          </a:p>
        </p:txBody>
      </p:sp>
    </p:spTree>
    <p:extLst>
      <p:ext uri="{BB962C8B-B14F-4D97-AF65-F5344CB8AC3E}">
        <p14:creationId xmlns:p14="http://schemas.microsoft.com/office/powerpoint/2010/main" val="2304704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DE820-7530-B8D2-AB9A-829C8F7C6D5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00F2AD-EC66-B27C-4E7F-68F988FE57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6C94DC-2AD6-894E-CF62-A53FAFED89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CD467E3-E4AC-A749-A3C4-2E98BBC8EE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EBFFA4-0A20-E0A6-EF2F-06519A9E6E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39C9018-349F-0B79-7F83-C24442E3D802}"/>
              </a:ext>
            </a:extLst>
          </p:cNvPr>
          <p:cNvSpPr>
            <a:spLocks noGrp="1"/>
          </p:cNvSpPr>
          <p:nvPr>
            <p:ph type="dt" sz="half" idx="10"/>
          </p:nvPr>
        </p:nvSpPr>
        <p:spPr/>
        <p:txBody>
          <a:bodyPr/>
          <a:lstStyle/>
          <a:p>
            <a:fld id="{01F179B8-54A4-4DCE-9149-D502D1A3B727}" type="datetimeFigureOut">
              <a:rPr lang="en-IN" smtClean="0"/>
              <a:t>08-11-2025</a:t>
            </a:fld>
            <a:endParaRPr lang="en-IN"/>
          </a:p>
        </p:txBody>
      </p:sp>
      <p:sp>
        <p:nvSpPr>
          <p:cNvPr id="8" name="Footer Placeholder 7">
            <a:extLst>
              <a:ext uri="{FF2B5EF4-FFF2-40B4-BE49-F238E27FC236}">
                <a16:creationId xmlns:a16="http://schemas.microsoft.com/office/drawing/2014/main" id="{65931539-6FDC-BF62-D09E-FA048E7F8BF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F0D3680-59BE-CB4E-9E9F-3BB5FF472FF7}"/>
              </a:ext>
            </a:extLst>
          </p:cNvPr>
          <p:cNvSpPr>
            <a:spLocks noGrp="1"/>
          </p:cNvSpPr>
          <p:nvPr>
            <p:ph type="sldNum" sz="quarter" idx="12"/>
          </p:nvPr>
        </p:nvSpPr>
        <p:spPr/>
        <p:txBody>
          <a:bodyPr/>
          <a:lstStyle/>
          <a:p>
            <a:fld id="{00AF4A92-E274-4967-81D7-9440FEBE14BD}" type="slidenum">
              <a:rPr lang="en-IN" smtClean="0"/>
              <a:t>‹#›</a:t>
            </a:fld>
            <a:endParaRPr lang="en-IN"/>
          </a:p>
        </p:txBody>
      </p:sp>
    </p:spTree>
    <p:extLst>
      <p:ext uri="{BB962C8B-B14F-4D97-AF65-F5344CB8AC3E}">
        <p14:creationId xmlns:p14="http://schemas.microsoft.com/office/powerpoint/2010/main" val="2527102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8CDCE-0F82-4EA1-4152-3378B86C765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D357B95-3CF3-0D0F-9ED5-5DF6F81EBDEE}"/>
              </a:ext>
            </a:extLst>
          </p:cNvPr>
          <p:cNvSpPr>
            <a:spLocks noGrp="1"/>
          </p:cNvSpPr>
          <p:nvPr>
            <p:ph type="dt" sz="half" idx="10"/>
          </p:nvPr>
        </p:nvSpPr>
        <p:spPr/>
        <p:txBody>
          <a:bodyPr/>
          <a:lstStyle/>
          <a:p>
            <a:fld id="{01F179B8-54A4-4DCE-9149-D502D1A3B727}" type="datetimeFigureOut">
              <a:rPr lang="en-IN" smtClean="0"/>
              <a:t>08-11-2025</a:t>
            </a:fld>
            <a:endParaRPr lang="en-IN"/>
          </a:p>
        </p:txBody>
      </p:sp>
      <p:sp>
        <p:nvSpPr>
          <p:cNvPr id="4" name="Footer Placeholder 3">
            <a:extLst>
              <a:ext uri="{FF2B5EF4-FFF2-40B4-BE49-F238E27FC236}">
                <a16:creationId xmlns:a16="http://schemas.microsoft.com/office/drawing/2014/main" id="{0120580B-5CAA-AFE5-C668-F6746DE98CF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E7C5F2B-23B4-61CF-EF3D-0F9533D34308}"/>
              </a:ext>
            </a:extLst>
          </p:cNvPr>
          <p:cNvSpPr>
            <a:spLocks noGrp="1"/>
          </p:cNvSpPr>
          <p:nvPr>
            <p:ph type="sldNum" sz="quarter" idx="12"/>
          </p:nvPr>
        </p:nvSpPr>
        <p:spPr/>
        <p:txBody>
          <a:bodyPr/>
          <a:lstStyle/>
          <a:p>
            <a:fld id="{00AF4A92-E274-4967-81D7-9440FEBE14BD}" type="slidenum">
              <a:rPr lang="en-IN" smtClean="0"/>
              <a:t>‹#›</a:t>
            </a:fld>
            <a:endParaRPr lang="en-IN"/>
          </a:p>
        </p:txBody>
      </p:sp>
    </p:spTree>
    <p:extLst>
      <p:ext uri="{BB962C8B-B14F-4D97-AF65-F5344CB8AC3E}">
        <p14:creationId xmlns:p14="http://schemas.microsoft.com/office/powerpoint/2010/main" val="3091625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E0428E-0205-539C-09C1-08976CE9D7BE}"/>
              </a:ext>
            </a:extLst>
          </p:cNvPr>
          <p:cNvSpPr>
            <a:spLocks noGrp="1"/>
          </p:cNvSpPr>
          <p:nvPr>
            <p:ph type="dt" sz="half" idx="10"/>
          </p:nvPr>
        </p:nvSpPr>
        <p:spPr/>
        <p:txBody>
          <a:bodyPr/>
          <a:lstStyle/>
          <a:p>
            <a:fld id="{01F179B8-54A4-4DCE-9149-D502D1A3B727}" type="datetimeFigureOut">
              <a:rPr lang="en-IN" smtClean="0"/>
              <a:t>08-11-2025</a:t>
            </a:fld>
            <a:endParaRPr lang="en-IN"/>
          </a:p>
        </p:txBody>
      </p:sp>
      <p:sp>
        <p:nvSpPr>
          <p:cNvPr id="3" name="Footer Placeholder 2">
            <a:extLst>
              <a:ext uri="{FF2B5EF4-FFF2-40B4-BE49-F238E27FC236}">
                <a16:creationId xmlns:a16="http://schemas.microsoft.com/office/drawing/2014/main" id="{D11F29E4-7231-1ABB-D34F-06C4BE09E33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9C434BC-D3AA-8ADC-2F8E-B60DD40EE40F}"/>
              </a:ext>
            </a:extLst>
          </p:cNvPr>
          <p:cNvSpPr>
            <a:spLocks noGrp="1"/>
          </p:cNvSpPr>
          <p:nvPr>
            <p:ph type="sldNum" sz="quarter" idx="12"/>
          </p:nvPr>
        </p:nvSpPr>
        <p:spPr/>
        <p:txBody>
          <a:bodyPr/>
          <a:lstStyle/>
          <a:p>
            <a:fld id="{00AF4A92-E274-4967-81D7-9440FEBE14BD}" type="slidenum">
              <a:rPr lang="en-IN" smtClean="0"/>
              <a:t>‹#›</a:t>
            </a:fld>
            <a:endParaRPr lang="en-IN"/>
          </a:p>
        </p:txBody>
      </p:sp>
    </p:spTree>
    <p:extLst>
      <p:ext uri="{BB962C8B-B14F-4D97-AF65-F5344CB8AC3E}">
        <p14:creationId xmlns:p14="http://schemas.microsoft.com/office/powerpoint/2010/main" val="413008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9719E-AEF1-9203-13F9-CDCDCFC5F2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5F91CAC-7412-7AC1-2512-4890A38C87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7B3805A-A2E0-6201-EE75-0F1696CEE9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0402C5-28E3-75AA-3163-23193B2BF440}"/>
              </a:ext>
            </a:extLst>
          </p:cNvPr>
          <p:cNvSpPr>
            <a:spLocks noGrp="1"/>
          </p:cNvSpPr>
          <p:nvPr>
            <p:ph type="dt" sz="half" idx="10"/>
          </p:nvPr>
        </p:nvSpPr>
        <p:spPr/>
        <p:txBody>
          <a:bodyPr/>
          <a:lstStyle/>
          <a:p>
            <a:fld id="{01F179B8-54A4-4DCE-9149-D502D1A3B727}" type="datetimeFigureOut">
              <a:rPr lang="en-IN" smtClean="0"/>
              <a:t>08-11-2025</a:t>
            </a:fld>
            <a:endParaRPr lang="en-IN"/>
          </a:p>
        </p:txBody>
      </p:sp>
      <p:sp>
        <p:nvSpPr>
          <p:cNvPr id="6" name="Footer Placeholder 5">
            <a:extLst>
              <a:ext uri="{FF2B5EF4-FFF2-40B4-BE49-F238E27FC236}">
                <a16:creationId xmlns:a16="http://schemas.microsoft.com/office/drawing/2014/main" id="{6F3E27BF-B461-E089-E96F-9A3051EB00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671D2E-193A-CC97-BF8C-ECAF11B305D6}"/>
              </a:ext>
            </a:extLst>
          </p:cNvPr>
          <p:cNvSpPr>
            <a:spLocks noGrp="1"/>
          </p:cNvSpPr>
          <p:nvPr>
            <p:ph type="sldNum" sz="quarter" idx="12"/>
          </p:nvPr>
        </p:nvSpPr>
        <p:spPr/>
        <p:txBody>
          <a:bodyPr/>
          <a:lstStyle/>
          <a:p>
            <a:fld id="{00AF4A92-E274-4967-81D7-9440FEBE14BD}" type="slidenum">
              <a:rPr lang="en-IN" smtClean="0"/>
              <a:t>‹#›</a:t>
            </a:fld>
            <a:endParaRPr lang="en-IN"/>
          </a:p>
        </p:txBody>
      </p:sp>
    </p:spTree>
    <p:extLst>
      <p:ext uri="{BB962C8B-B14F-4D97-AF65-F5344CB8AC3E}">
        <p14:creationId xmlns:p14="http://schemas.microsoft.com/office/powerpoint/2010/main" val="342426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1FCAE-00F3-89AC-17C8-4820AD6DDE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E1C3647-304E-02EB-F49F-EC8C8CA31E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C5BDDBC-163D-4309-07B6-38B5C10CFE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0E6CB7-0E1D-B04A-C143-2E260FCCF2BD}"/>
              </a:ext>
            </a:extLst>
          </p:cNvPr>
          <p:cNvSpPr>
            <a:spLocks noGrp="1"/>
          </p:cNvSpPr>
          <p:nvPr>
            <p:ph type="dt" sz="half" idx="10"/>
          </p:nvPr>
        </p:nvSpPr>
        <p:spPr/>
        <p:txBody>
          <a:bodyPr/>
          <a:lstStyle/>
          <a:p>
            <a:fld id="{01F179B8-54A4-4DCE-9149-D502D1A3B727}" type="datetimeFigureOut">
              <a:rPr lang="en-IN" smtClean="0"/>
              <a:t>08-11-2025</a:t>
            </a:fld>
            <a:endParaRPr lang="en-IN"/>
          </a:p>
        </p:txBody>
      </p:sp>
      <p:sp>
        <p:nvSpPr>
          <p:cNvPr id="6" name="Footer Placeholder 5">
            <a:extLst>
              <a:ext uri="{FF2B5EF4-FFF2-40B4-BE49-F238E27FC236}">
                <a16:creationId xmlns:a16="http://schemas.microsoft.com/office/drawing/2014/main" id="{B2325E7A-9ED2-6C94-9047-29ECBFE6E9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678A6E-E831-CCB4-BC96-2A317632F81D}"/>
              </a:ext>
            </a:extLst>
          </p:cNvPr>
          <p:cNvSpPr>
            <a:spLocks noGrp="1"/>
          </p:cNvSpPr>
          <p:nvPr>
            <p:ph type="sldNum" sz="quarter" idx="12"/>
          </p:nvPr>
        </p:nvSpPr>
        <p:spPr/>
        <p:txBody>
          <a:bodyPr/>
          <a:lstStyle/>
          <a:p>
            <a:fld id="{00AF4A92-E274-4967-81D7-9440FEBE14BD}" type="slidenum">
              <a:rPr lang="en-IN" smtClean="0"/>
              <a:t>‹#›</a:t>
            </a:fld>
            <a:endParaRPr lang="en-IN"/>
          </a:p>
        </p:txBody>
      </p:sp>
    </p:spTree>
    <p:extLst>
      <p:ext uri="{BB962C8B-B14F-4D97-AF65-F5344CB8AC3E}">
        <p14:creationId xmlns:p14="http://schemas.microsoft.com/office/powerpoint/2010/main" val="565042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C03A5-EF99-56DC-A794-535F649A3FA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40715E-7D9B-32D5-5F87-392308E12D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DC893C-093C-A1FB-96BE-C536D61E7190}"/>
              </a:ext>
            </a:extLst>
          </p:cNvPr>
          <p:cNvSpPr>
            <a:spLocks noGrp="1"/>
          </p:cNvSpPr>
          <p:nvPr>
            <p:ph type="dt" sz="half" idx="10"/>
          </p:nvPr>
        </p:nvSpPr>
        <p:spPr/>
        <p:txBody>
          <a:bodyPr/>
          <a:lstStyle/>
          <a:p>
            <a:fld id="{01F179B8-54A4-4DCE-9149-D502D1A3B727}" type="datetimeFigureOut">
              <a:rPr lang="en-IN" smtClean="0"/>
              <a:t>08-11-2025</a:t>
            </a:fld>
            <a:endParaRPr lang="en-IN"/>
          </a:p>
        </p:txBody>
      </p:sp>
      <p:sp>
        <p:nvSpPr>
          <p:cNvPr id="5" name="Footer Placeholder 4">
            <a:extLst>
              <a:ext uri="{FF2B5EF4-FFF2-40B4-BE49-F238E27FC236}">
                <a16:creationId xmlns:a16="http://schemas.microsoft.com/office/drawing/2014/main" id="{656C202F-A73A-2956-86F9-4FF010E5D6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8EF3A7-0622-1855-AC52-317DF8FA02FE}"/>
              </a:ext>
            </a:extLst>
          </p:cNvPr>
          <p:cNvSpPr>
            <a:spLocks noGrp="1"/>
          </p:cNvSpPr>
          <p:nvPr>
            <p:ph type="sldNum" sz="quarter" idx="12"/>
          </p:nvPr>
        </p:nvSpPr>
        <p:spPr/>
        <p:txBody>
          <a:bodyPr/>
          <a:lstStyle/>
          <a:p>
            <a:fld id="{00AF4A92-E274-4967-81D7-9440FEBE14BD}" type="slidenum">
              <a:rPr lang="en-IN" smtClean="0"/>
              <a:t>‹#›</a:t>
            </a:fld>
            <a:endParaRPr lang="en-IN"/>
          </a:p>
        </p:txBody>
      </p:sp>
    </p:spTree>
    <p:extLst>
      <p:ext uri="{BB962C8B-B14F-4D97-AF65-F5344CB8AC3E}">
        <p14:creationId xmlns:p14="http://schemas.microsoft.com/office/powerpoint/2010/main" val="7277907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92ECC0-9F8F-4D4D-2E77-D470C0CBC1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42AB508-3B11-6FD8-EE7F-D5A95915DE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0B1293-3742-1BDD-7EA3-5D8A7B7B2325}"/>
              </a:ext>
            </a:extLst>
          </p:cNvPr>
          <p:cNvSpPr>
            <a:spLocks noGrp="1"/>
          </p:cNvSpPr>
          <p:nvPr>
            <p:ph type="dt" sz="half" idx="10"/>
          </p:nvPr>
        </p:nvSpPr>
        <p:spPr/>
        <p:txBody>
          <a:bodyPr/>
          <a:lstStyle/>
          <a:p>
            <a:fld id="{01F179B8-54A4-4DCE-9149-D502D1A3B727}" type="datetimeFigureOut">
              <a:rPr lang="en-IN" smtClean="0"/>
              <a:t>08-11-2025</a:t>
            </a:fld>
            <a:endParaRPr lang="en-IN"/>
          </a:p>
        </p:txBody>
      </p:sp>
      <p:sp>
        <p:nvSpPr>
          <p:cNvPr id="5" name="Footer Placeholder 4">
            <a:extLst>
              <a:ext uri="{FF2B5EF4-FFF2-40B4-BE49-F238E27FC236}">
                <a16:creationId xmlns:a16="http://schemas.microsoft.com/office/drawing/2014/main" id="{CFF4D1B5-5F65-EB0E-A0FD-32265210DD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66298A-0956-58E1-0F3D-3A86CFB1A043}"/>
              </a:ext>
            </a:extLst>
          </p:cNvPr>
          <p:cNvSpPr>
            <a:spLocks noGrp="1"/>
          </p:cNvSpPr>
          <p:nvPr>
            <p:ph type="sldNum" sz="quarter" idx="12"/>
          </p:nvPr>
        </p:nvSpPr>
        <p:spPr/>
        <p:txBody>
          <a:bodyPr/>
          <a:lstStyle/>
          <a:p>
            <a:fld id="{00AF4A92-E274-4967-81D7-9440FEBE14BD}" type="slidenum">
              <a:rPr lang="en-IN" smtClean="0"/>
              <a:t>‹#›</a:t>
            </a:fld>
            <a:endParaRPr lang="en-IN"/>
          </a:p>
        </p:txBody>
      </p:sp>
    </p:spTree>
    <p:extLst>
      <p:ext uri="{BB962C8B-B14F-4D97-AF65-F5344CB8AC3E}">
        <p14:creationId xmlns:p14="http://schemas.microsoft.com/office/powerpoint/2010/main" val="2087327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A8FBD3"/>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D7C53B-19A6-7B0D-ECC0-D1581F2138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92C2193-EFB9-1868-2A30-EB69DFC421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3CD3B6-2582-33E0-7DBD-DEE849560A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F179B8-54A4-4DCE-9149-D502D1A3B727}" type="datetimeFigureOut">
              <a:rPr lang="en-IN" smtClean="0"/>
              <a:t>08-11-2025</a:t>
            </a:fld>
            <a:endParaRPr lang="en-IN"/>
          </a:p>
        </p:txBody>
      </p:sp>
      <p:sp>
        <p:nvSpPr>
          <p:cNvPr id="5" name="Footer Placeholder 4">
            <a:extLst>
              <a:ext uri="{FF2B5EF4-FFF2-40B4-BE49-F238E27FC236}">
                <a16:creationId xmlns:a16="http://schemas.microsoft.com/office/drawing/2014/main" id="{9E89D450-CC46-CF1C-B805-03D51679FB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D674E80-C61D-3946-7ECA-AB17143B93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AF4A92-E274-4967-81D7-9440FEBE14BD}" type="slidenum">
              <a:rPr lang="en-IN" smtClean="0"/>
              <a:t>‹#›</a:t>
            </a:fld>
            <a:endParaRPr lang="en-IN"/>
          </a:p>
        </p:txBody>
      </p:sp>
    </p:spTree>
    <p:extLst>
      <p:ext uri="{BB962C8B-B14F-4D97-AF65-F5344CB8AC3E}">
        <p14:creationId xmlns:p14="http://schemas.microsoft.com/office/powerpoint/2010/main" val="38931993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EC0F495-1A25-87A4-AD79-CC2FD8677D0A}"/>
              </a:ext>
            </a:extLst>
          </p:cNvPr>
          <p:cNvSpPr txBox="1"/>
          <p:nvPr/>
        </p:nvSpPr>
        <p:spPr>
          <a:xfrm>
            <a:off x="1664970" y="603469"/>
            <a:ext cx="8862061" cy="584775"/>
          </a:xfrm>
          <a:prstGeom prst="rect">
            <a:avLst/>
          </a:prstGeom>
          <a:noFill/>
        </p:spPr>
        <p:txBody>
          <a:bodyPr wrap="square" rtlCol="0">
            <a:spAutoFit/>
          </a:bodyPr>
          <a:lstStyle/>
          <a:p>
            <a:pPr algn="ctr"/>
            <a:r>
              <a:rPr lang="en-US" sz="3200" b="1" dirty="0">
                <a:solidFill>
                  <a:srgbClr val="31326F"/>
                </a:solidFill>
              </a:rPr>
              <a:t>Pratibha Institute Of Business Management</a:t>
            </a:r>
            <a:endParaRPr lang="en-IN" sz="3200" b="1" dirty="0">
              <a:solidFill>
                <a:srgbClr val="31326F"/>
              </a:solidFill>
            </a:endParaRPr>
          </a:p>
        </p:txBody>
      </p:sp>
      <p:sp>
        <p:nvSpPr>
          <p:cNvPr id="9" name="TextBox 8">
            <a:extLst>
              <a:ext uri="{FF2B5EF4-FFF2-40B4-BE49-F238E27FC236}">
                <a16:creationId xmlns:a16="http://schemas.microsoft.com/office/drawing/2014/main" id="{FA797860-7166-BD11-57D6-8696E6E49AB3}"/>
              </a:ext>
            </a:extLst>
          </p:cNvPr>
          <p:cNvSpPr txBox="1"/>
          <p:nvPr/>
        </p:nvSpPr>
        <p:spPr>
          <a:xfrm>
            <a:off x="3324098" y="248267"/>
            <a:ext cx="5543805" cy="400110"/>
          </a:xfrm>
          <a:prstGeom prst="rect">
            <a:avLst/>
          </a:prstGeom>
          <a:noFill/>
        </p:spPr>
        <p:txBody>
          <a:bodyPr wrap="square" rtlCol="0">
            <a:spAutoFit/>
          </a:bodyPr>
          <a:lstStyle/>
          <a:p>
            <a:pPr algn="ctr"/>
            <a:r>
              <a:rPr lang="en-US" sz="2000" dirty="0">
                <a:solidFill>
                  <a:srgbClr val="637AB9"/>
                </a:solidFill>
              </a:rPr>
              <a:t>Kamla Education Society’s </a:t>
            </a:r>
            <a:endParaRPr lang="en-IN" sz="2000" dirty="0">
              <a:solidFill>
                <a:srgbClr val="637AB9"/>
              </a:solidFill>
            </a:endParaRPr>
          </a:p>
        </p:txBody>
      </p:sp>
      <p:sp>
        <p:nvSpPr>
          <p:cNvPr id="10" name="TextBox 9">
            <a:extLst>
              <a:ext uri="{FF2B5EF4-FFF2-40B4-BE49-F238E27FC236}">
                <a16:creationId xmlns:a16="http://schemas.microsoft.com/office/drawing/2014/main" id="{B66AB3E4-A831-2EE4-8EA2-6758D062587A}"/>
              </a:ext>
            </a:extLst>
          </p:cNvPr>
          <p:cNvSpPr txBox="1"/>
          <p:nvPr/>
        </p:nvSpPr>
        <p:spPr>
          <a:xfrm>
            <a:off x="3324098" y="1118908"/>
            <a:ext cx="5543805" cy="707886"/>
          </a:xfrm>
          <a:prstGeom prst="rect">
            <a:avLst/>
          </a:prstGeom>
          <a:solidFill>
            <a:srgbClr val="A8FBD3"/>
          </a:solidFill>
        </p:spPr>
        <p:txBody>
          <a:bodyPr wrap="square" rtlCol="0">
            <a:spAutoFit/>
          </a:bodyPr>
          <a:lstStyle/>
          <a:p>
            <a:pPr algn="ctr"/>
            <a:r>
              <a:rPr lang="en-US" sz="2000" b="1" dirty="0">
                <a:solidFill>
                  <a:srgbClr val="637AB9"/>
                </a:solidFill>
              </a:rPr>
              <a:t>Chinchwad, Pune-411019</a:t>
            </a:r>
            <a:endParaRPr lang="en-IN" sz="2000" dirty="0">
              <a:solidFill>
                <a:srgbClr val="637AB9"/>
              </a:solidFill>
            </a:endParaRPr>
          </a:p>
          <a:p>
            <a:pPr algn="ctr"/>
            <a:r>
              <a:rPr lang="en-US" sz="2000" b="1" dirty="0">
                <a:solidFill>
                  <a:srgbClr val="637AB9"/>
                </a:solidFill>
              </a:rPr>
              <a:t>2025-2026</a:t>
            </a:r>
            <a:endParaRPr lang="en-IN" sz="2000" dirty="0">
              <a:solidFill>
                <a:srgbClr val="637AB9"/>
              </a:solidFill>
            </a:endParaRPr>
          </a:p>
        </p:txBody>
      </p:sp>
      <p:pic>
        <p:nvPicPr>
          <p:cNvPr id="6" name="Picture 5" descr="KES Pratibha Institute of Business Management | LinkedIn">
            <a:extLst>
              <a:ext uri="{FF2B5EF4-FFF2-40B4-BE49-F238E27FC236}">
                <a16:creationId xmlns:a16="http://schemas.microsoft.com/office/drawing/2014/main" id="{8F9A2B0F-B9E3-59A5-A529-880C84966E9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7790" y="277474"/>
            <a:ext cx="1236763" cy="1236763"/>
          </a:xfrm>
          <a:prstGeom prst="rect">
            <a:avLst/>
          </a:prstGeom>
          <a:noFill/>
          <a:ln>
            <a:noFill/>
          </a:ln>
        </p:spPr>
      </p:pic>
      <p:sp>
        <p:nvSpPr>
          <p:cNvPr id="11" name="TextBox 10">
            <a:extLst>
              <a:ext uri="{FF2B5EF4-FFF2-40B4-BE49-F238E27FC236}">
                <a16:creationId xmlns:a16="http://schemas.microsoft.com/office/drawing/2014/main" id="{696DA9FB-55EA-F056-3BF5-8ED2859D2071}"/>
              </a:ext>
            </a:extLst>
          </p:cNvPr>
          <p:cNvSpPr txBox="1"/>
          <p:nvPr/>
        </p:nvSpPr>
        <p:spPr>
          <a:xfrm>
            <a:off x="1296463" y="2501618"/>
            <a:ext cx="9599074" cy="584775"/>
          </a:xfrm>
          <a:prstGeom prst="rect">
            <a:avLst/>
          </a:prstGeom>
          <a:noFill/>
        </p:spPr>
        <p:txBody>
          <a:bodyPr wrap="square" rtlCol="0">
            <a:spAutoFit/>
          </a:bodyPr>
          <a:lstStyle/>
          <a:p>
            <a:pPr algn="ctr"/>
            <a:r>
              <a:rPr lang="en-US" sz="3200" b="1" dirty="0">
                <a:solidFill>
                  <a:srgbClr val="31326F"/>
                </a:solidFill>
              </a:rPr>
              <a:t>Project Name :  Brief Analysis On Employee Survey</a:t>
            </a:r>
            <a:endParaRPr lang="en-IN" sz="3200" b="1" dirty="0">
              <a:solidFill>
                <a:srgbClr val="31326F"/>
              </a:solidFill>
            </a:endParaRPr>
          </a:p>
        </p:txBody>
      </p:sp>
      <p:sp>
        <p:nvSpPr>
          <p:cNvPr id="12" name="TextBox 11">
            <a:extLst>
              <a:ext uri="{FF2B5EF4-FFF2-40B4-BE49-F238E27FC236}">
                <a16:creationId xmlns:a16="http://schemas.microsoft.com/office/drawing/2014/main" id="{608AFAA8-7958-2C55-EC72-83D685A2AC66}"/>
              </a:ext>
            </a:extLst>
          </p:cNvPr>
          <p:cNvSpPr txBox="1"/>
          <p:nvPr/>
        </p:nvSpPr>
        <p:spPr>
          <a:xfrm>
            <a:off x="2543933" y="3170181"/>
            <a:ext cx="7104134" cy="477054"/>
          </a:xfrm>
          <a:prstGeom prst="rect">
            <a:avLst/>
          </a:prstGeom>
          <a:noFill/>
        </p:spPr>
        <p:txBody>
          <a:bodyPr wrap="square" rtlCol="0">
            <a:spAutoFit/>
          </a:bodyPr>
          <a:lstStyle/>
          <a:p>
            <a:pPr algn="ctr"/>
            <a:r>
              <a:rPr lang="en-US" sz="2500" b="1" dirty="0">
                <a:solidFill>
                  <a:srgbClr val="31326F"/>
                </a:solidFill>
              </a:rPr>
              <a:t>Class : MCA 1</a:t>
            </a:r>
            <a:r>
              <a:rPr lang="en-US" sz="2500" b="1" baseline="30000" dirty="0">
                <a:solidFill>
                  <a:srgbClr val="31326F"/>
                </a:solidFill>
              </a:rPr>
              <a:t>St</a:t>
            </a:r>
            <a:endParaRPr lang="en-IN" sz="2500" b="1" dirty="0">
              <a:solidFill>
                <a:srgbClr val="31326F"/>
              </a:solidFill>
            </a:endParaRPr>
          </a:p>
        </p:txBody>
      </p:sp>
      <p:sp>
        <p:nvSpPr>
          <p:cNvPr id="13" name="TextBox 12">
            <a:extLst>
              <a:ext uri="{FF2B5EF4-FFF2-40B4-BE49-F238E27FC236}">
                <a16:creationId xmlns:a16="http://schemas.microsoft.com/office/drawing/2014/main" id="{E10C3215-B1A0-3C0C-359F-FAD9E85E8108}"/>
              </a:ext>
            </a:extLst>
          </p:cNvPr>
          <p:cNvSpPr txBox="1"/>
          <p:nvPr/>
        </p:nvSpPr>
        <p:spPr>
          <a:xfrm>
            <a:off x="2543933" y="3771607"/>
            <a:ext cx="7104134" cy="477054"/>
          </a:xfrm>
          <a:prstGeom prst="rect">
            <a:avLst/>
          </a:prstGeom>
          <a:noFill/>
        </p:spPr>
        <p:txBody>
          <a:bodyPr wrap="square" rtlCol="0">
            <a:spAutoFit/>
          </a:bodyPr>
          <a:lstStyle/>
          <a:p>
            <a:pPr algn="ctr"/>
            <a:r>
              <a:rPr lang="en-US" sz="2500" b="1" dirty="0">
                <a:solidFill>
                  <a:srgbClr val="31326F"/>
                </a:solidFill>
              </a:rPr>
              <a:t>Roll No : MC25059</a:t>
            </a:r>
            <a:endParaRPr lang="en-IN" sz="2500" b="1" dirty="0">
              <a:solidFill>
                <a:srgbClr val="31326F"/>
              </a:solidFill>
            </a:endParaRPr>
          </a:p>
        </p:txBody>
      </p:sp>
      <p:sp>
        <p:nvSpPr>
          <p:cNvPr id="14" name="TextBox 13">
            <a:extLst>
              <a:ext uri="{FF2B5EF4-FFF2-40B4-BE49-F238E27FC236}">
                <a16:creationId xmlns:a16="http://schemas.microsoft.com/office/drawing/2014/main" id="{E7F244B2-BE2D-5ECA-ED6A-AF7FDF81E40E}"/>
              </a:ext>
            </a:extLst>
          </p:cNvPr>
          <p:cNvSpPr txBox="1"/>
          <p:nvPr/>
        </p:nvSpPr>
        <p:spPr>
          <a:xfrm>
            <a:off x="2543933" y="4426988"/>
            <a:ext cx="7104134" cy="477054"/>
          </a:xfrm>
          <a:prstGeom prst="rect">
            <a:avLst/>
          </a:prstGeom>
          <a:noFill/>
        </p:spPr>
        <p:txBody>
          <a:bodyPr wrap="square" rtlCol="0">
            <a:spAutoFit/>
          </a:bodyPr>
          <a:lstStyle/>
          <a:p>
            <a:pPr algn="ctr"/>
            <a:r>
              <a:rPr lang="en-US" sz="2500" b="1" dirty="0">
                <a:solidFill>
                  <a:srgbClr val="31326F"/>
                </a:solidFill>
              </a:rPr>
              <a:t>Subject : Mini Project</a:t>
            </a:r>
            <a:endParaRPr lang="en-IN" sz="2500" b="1" dirty="0">
              <a:solidFill>
                <a:srgbClr val="31326F"/>
              </a:solidFill>
            </a:endParaRPr>
          </a:p>
        </p:txBody>
      </p:sp>
      <p:sp>
        <p:nvSpPr>
          <p:cNvPr id="15" name="TextBox 14">
            <a:extLst>
              <a:ext uri="{FF2B5EF4-FFF2-40B4-BE49-F238E27FC236}">
                <a16:creationId xmlns:a16="http://schemas.microsoft.com/office/drawing/2014/main" id="{9148F0D7-55C9-B11F-9264-BB34E8C4C900}"/>
              </a:ext>
            </a:extLst>
          </p:cNvPr>
          <p:cNvSpPr txBox="1"/>
          <p:nvPr/>
        </p:nvSpPr>
        <p:spPr>
          <a:xfrm>
            <a:off x="132565" y="5545384"/>
            <a:ext cx="3574195" cy="707886"/>
          </a:xfrm>
          <a:prstGeom prst="rect">
            <a:avLst/>
          </a:prstGeom>
          <a:noFill/>
        </p:spPr>
        <p:txBody>
          <a:bodyPr wrap="square" rtlCol="0">
            <a:spAutoFit/>
          </a:bodyPr>
          <a:lstStyle/>
          <a:p>
            <a:pPr algn="ctr"/>
            <a:r>
              <a:rPr lang="en-US" sz="2000" b="1" dirty="0">
                <a:solidFill>
                  <a:srgbClr val="31326F"/>
                </a:solidFill>
              </a:rPr>
              <a:t>Submitted BY :</a:t>
            </a:r>
          </a:p>
          <a:p>
            <a:pPr algn="ctr"/>
            <a:r>
              <a:rPr lang="en-US" sz="2000" b="1" dirty="0">
                <a:solidFill>
                  <a:srgbClr val="31326F"/>
                </a:solidFill>
              </a:rPr>
              <a:t>Om </a:t>
            </a:r>
            <a:r>
              <a:rPr lang="en-US" sz="2000" b="1" dirty="0" err="1">
                <a:solidFill>
                  <a:srgbClr val="31326F"/>
                </a:solidFill>
              </a:rPr>
              <a:t>Shaileshrao</a:t>
            </a:r>
            <a:r>
              <a:rPr lang="en-US" sz="2000" b="1" dirty="0">
                <a:solidFill>
                  <a:srgbClr val="31326F"/>
                </a:solidFill>
              </a:rPr>
              <a:t> Nimmalwar</a:t>
            </a:r>
            <a:endParaRPr lang="en-IN" sz="2000" b="1" dirty="0">
              <a:solidFill>
                <a:srgbClr val="31326F"/>
              </a:solidFill>
            </a:endParaRPr>
          </a:p>
        </p:txBody>
      </p:sp>
      <p:sp>
        <p:nvSpPr>
          <p:cNvPr id="16" name="TextBox 15">
            <a:extLst>
              <a:ext uri="{FF2B5EF4-FFF2-40B4-BE49-F238E27FC236}">
                <a16:creationId xmlns:a16="http://schemas.microsoft.com/office/drawing/2014/main" id="{FF976B8D-378A-2D42-D99F-FBE1F443EBDE}"/>
              </a:ext>
            </a:extLst>
          </p:cNvPr>
          <p:cNvSpPr txBox="1"/>
          <p:nvPr/>
        </p:nvSpPr>
        <p:spPr>
          <a:xfrm>
            <a:off x="8287446" y="5545384"/>
            <a:ext cx="3574195" cy="707886"/>
          </a:xfrm>
          <a:prstGeom prst="rect">
            <a:avLst/>
          </a:prstGeom>
          <a:noFill/>
        </p:spPr>
        <p:txBody>
          <a:bodyPr wrap="square" rtlCol="0">
            <a:spAutoFit/>
          </a:bodyPr>
          <a:lstStyle/>
          <a:p>
            <a:pPr algn="ctr"/>
            <a:r>
              <a:rPr lang="en-US" sz="2000" b="1" dirty="0">
                <a:solidFill>
                  <a:srgbClr val="31326F"/>
                </a:solidFill>
              </a:rPr>
              <a:t>Guided By : </a:t>
            </a:r>
          </a:p>
          <a:p>
            <a:pPr algn="ctr"/>
            <a:r>
              <a:rPr lang="en-US" sz="2000" b="1" dirty="0">
                <a:solidFill>
                  <a:srgbClr val="31326F"/>
                </a:solidFill>
              </a:rPr>
              <a:t>Prof Rupali Deshpande</a:t>
            </a:r>
            <a:endParaRPr lang="en-IN" sz="2000" b="1" dirty="0">
              <a:solidFill>
                <a:srgbClr val="31326F"/>
              </a:solidFill>
            </a:endParaRPr>
          </a:p>
        </p:txBody>
      </p:sp>
    </p:spTree>
    <p:extLst>
      <p:ext uri="{BB962C8B-B14F-4D97-AF65-F5344CB8AC3E}">
        <p14:creationId xmlns:p14="http://schemas.microsoft.com/office/powerpoint/2010/main" val="23431744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CCE778-FC50-DFF1-8047-A4978300E5E7}"/>
              </a:ext>
            </a:extLst>
          </p:cNvPr>
          <p:cNvSpPr txBox="1"/>
          <p:nvPr/>
        </p:nvSpPr>
        <p:spPr>
          <a:xfrm>
            <a:off x="2354498" y="0"/>
            <a:ext cx="7483004" cy="1200329"/>
          </a:xfrm>
          <a:prstGeom prst="rect">
            <a:avLst/>
          </a:prstGeom>
          <a:noFill/>
        </p:spPr>
        <p:txBody>
          <a:bodyPr wrap="square" rtlCol="0">
            <a:spAutoFit/>
          </a:bodyPr>
          <a:lstStyle/>
          <a:p>
            <a:pPr algn="ctr"/>
            <a:r>
              <a:rPr lang="en-US" sz="7200" b="1" dirty="0">
                <a:solidFill>
                  <a:srgbClr val="31326F"/>
                </a:solidFill>
              </a:rPr>
              <a:t>Index</a:t>
            </a:r>
            <a:endParaRPr lang="en-IN" sz="7200" b="1" dirty="0">
              <a:solidFill>
                <a:srgbClr val="31326F"/>
              </a:solidFill>
            </a:endParaRPr>
          </a:p>
        </p:txBody>
      </p:sp>
      <p:sp>
        <p:nvSpPr>
          <p:cNvPr id="3" name="TextBox 2">
            <a:extLst>
              <a:ext uri="{FF2B5EF4-FFF2-40B4-BE49-F238E27FC236}">
                <a16:creationId xmlns:a16="http://schemas.microsoft.com/office/drawing/2014/main" id="{FDB4964A-F249-51A8-0363-68417BF0B784}"/>
              </a:ext>
            </a:extLst>
          </p:cNvPr>
          <p:cNvSpPr txBox="1"/>
          <p:nvPr/>
        </p:nvSpPr>
        <p:spPr>
          <a:xfrm>
            <a:off x="284480" y="1459230"/>
            <a:ext cx="8575040" cy="5078313"/>
          </a:xfrm>
          <a:prstGeom prst="rect">
            <a:avLst/>
          </a:prstGeom>
          <a:noFill/>
        </p:spPr>
        <p:txBody>
          <a:bodyPr wrap="square" rtlCol="0">
            <a:spAutoFit/>
          </a:bodyPr>
          <a:lstStyle/>
          <a:p>
            <a:pPr marL="342900" indent="-342900">
              <a:buFont typeface="+mj-lt"/>
              <a:buAutoNum type="arabicPeriod"/>
            </a:pPr>
            <a:r>
              <a:rPr lang="en-US" sz="2700" dirty="0">
                <a:solidFill>
                  <a:srgbClr val="31326F"/>
                </a:solidFill>
              </a:rPr>
              <a:t>Introduction</a:t>
            </a:r>
          </a:p>
          <a:p>
            <a:pPr marL="342900" indent="-342900">
              <a:buFont typeface="+mj-lt"/>
              <a:buAutoNum type="arabicPeriod"/>
            </a:pPr>
            <a:r>
              <a:rPr lang="en-US" sz="2700" dirty="0">
                <a:solidFill>
                  <a:srgbClr val="31326F"/>
                </a:solidFill>
              </a:rPr>
              <a:t>Problem Statement</a:t>
            </a:r>
          </a:p>
          <a:p>
            <a:pPr marL="342900" indent="-342900">
              <a:buFont typeface="+mj-lt"/>
              <a:buAutoNum type="arabicPeriod"/>
            </a:pPr>
            <a:r>
              <a:rPr lang="en-IN" sz="2700" dirty="0">
                <a:solidFill>
                  <a:srgbClr val="31326F"/>
                </a:solidFill>
              </a:rPr>
              <a:t>Objectives</a:t>
            </a:r>
          </a:p>
          <a:p>
            <a:pPr marL="342900" indent="-342900">
              <a:buFont typeface="+mj-lt"/>
              <a:buAutoNum type="arabicPeriod"/>
            </a:pPr>
            <a:r>
              <a:rPr lang="en-IN" sz="2700" dirty="0">
                <a:solidFill>
                  <a:srgbClr val="31326F"/>
                </a:solidFill>
              </a:rPr>
              <a:t>Scope of the Project</a:t>
            </a:r>
          </a:p>
          <a:p>
            <a:pPr marL="342900" indent="-342900">
              <a:buFont typeface="+mj-lt"/>
              <a:buAutoNum type="arabicPeriod"/>
            </a:pPr>
            <a:r>
              <a:rPr lang="en-IN" sz="2700" dirty="0">
                <a:solidFill>
                  <a:srgbClr val="31326F"/>
                </a:solidFill>
              </a:rPr>
              <a:t>Existing System</a:t>
            </a:r>
          </a:p>
          <a:p>
            <a:pPr marL="342900" indent="-342900">
              <a:buFont typeface="+mj-lt"/>
              <a:buAutoNum type="arabicPeriod"/>
            </a:pPr>
            <a:r>
              <a:rPr lang="en-IN" sz="2700" dirty="0">
                <a:solidFill>
                  <a:srgbClr val="31326F"/>
                </a:solidFill>
              </a:rPr>
              <a:t>Methodology</a:t>
            </a:r>
          </a:p>
          <a:p>
            <a:pPr marL="342900" indent="-342900">
              <a:buFont typeface="+mj-lt"/>
              <a:buAutoNum type="arabicPeriod"/>
            </a:pPr>
            <a:r>
              <a:rPr lang="en-IN" sz="2700" dirty="0">
                <a:solidFill>
                  <a:srgbClr val="31326F"/>
                </a:solidFill>
              </a:rPr>
              <a:t>Software Requirements Specification (SRS)</a:t>
            </a:r>
          </a:p>
          <a:p>
            <a:pPr marL="342900" indent="-342900">
              <a:buFont typeface="+mj-lt"/>
              <a:buAutoNum type="arabicPeriod"/>
            </a:pPr>
            <a:r>
              <a:rPr lang="en-IN" sz="2700" dirty="0">
                <a:solidFill>
                  <a:srgbClr val="31326F"/>
                </a:solidFill>
              </a:rPr>
              <a:t>UML Diagrams</a:t>
            </a:r>
          </a:p>
          <a:p>
            <a:pPr marL="342900" indent="-342900">
              <a:buFont typeface="+mj-lt"/>
              <a:buAutoNum type="arabicPeriod"/>
            </a:pPr>
            <a:r>
              <a:rPr lang="en-IN" sz="2700" dirty="0">
                <a:solidFill>
                  <a:srgbClr val="31326F"/>
                </a:solidFill>
              </a:rPr>
              <a:t>Expected Outcome</a:t>
            </a:r>
          </a:p>
          <a:p>
            <a:pPr marL="342900" indent="-342900">
              <a:buFont typeface="+mj-lt"/>
              <a:buAutoNum type="arabicPeriod"/>
            </a:pPr>
            <a:r>
              <a:rPr lang="en-IN" sz="2700" dirty="0">
                <a:solidFill>
                  <a:srgbClr val="31326F"/>
                </a:solidFill>
              </a:rPr>
              <a:t>Future Scope</a:t>
            </a:r>
          </a:p>
          <a:p>
            <a:pPr marL="342900" indent="-342900">
              <a:buFont typeface="+mj-lt"/>
              <a:buAutoNum type="arabicPeriod"/>
            </a:pPr>
            <a:r>
              <a:rPr lang="en-IN" sz="2700" dirty="0">
                <a:solidFill>
                  <a:srgbClr val="31326F"/>
                </a:solidFill>
              </a:rPr>
              <a:t>Project Overview</a:t>
            </a:r>
          </a:p>
          <a:p>
            <a:pPr marL="342900" indent="-342900">
              <a:buFont typeface="+mj-lt"/>
              <a:buAutoNum type="arabicPeriod"/>
            </a:pPr>
            <a:r>
              <a:rPr lang="en-IN" sz="2700" dirty="0">
                <a:solidFill>
                  <a:srgbClr val="31326F"/>
                </a:solidFill>
              </a:rPr>
              <a:t>Conclusion</a:t>
            </a:r>
          </a:p>
        </p:txBody>
      </p:sp>
    </p:spTree>
    <p:extLst>
      <p:ext uri="{BB962C8B-B14F-4D97-AF65-F5344CB8AC3E}">
        <p14:creationId xmlns:p14="http://schemas.microsoft.com/office/powerpoint/2010/main" val="32710251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AEF11-2AA6-0305-501B-B3D68A0500A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71C3E76-3B79-7F92-666A-A90F5875E943}"/>
              </a:ext>
            </a:extLst>
          </p:cNvPr>
          <p:cNvSpPr txBox="1"/>
          <p:nvPr/>
        </p:nvSpPr>
        <p:spPr>
          <a:xfrm>
            <a:off x="2689123" y="0"/>
            <a:ext cx="6813755" cy="1200329"/>
          </a:xfrm>
          <a:prstGeom prst="rect">
            <a:avLst/>
          </a:prstGeom>
          <a:noFill/>
        </p:spPr>
        <p:txBody>
          <a:bodyPr wrap="square" rtlCol="0">
            <a:spAutoFit/>
          </a:bodyPr>
          <a:lstStyle/>
          <a:p>
            <a:pPr algn="ctr"/>
            <a:r>
              <a:rPr lang="en-US" sz="7200" b="1" dirty="0">
                <a:solidFill>
                  <a:srgbClr val="31326F"/>
                </a:solidFill>
              </a:rPr>
              <a:t>Introduction</a:t>
            </a:r>
            <a:endParaRPr lang="en-IN" sz="7200" b="1" dirty="0">
              <a:solidFill>
                <a:srgbClr val="31326F"/>
              </a:solidFill>
            </a:endParaRPr>
          </a:p>
        </p:txBody>
      </p:sp>
      <p:sp>
        <p:nvSpPr>
          <p:cNvPr id="5" name="TextBox 4">
            <a:extLst>
              <a:ext uri="{FF2B5EF4-FFF2-40B4-BE49-F238E27FC236}">
                <a16:creationId xmlns:a16="http://schemas.microsoft.com/office/drawing/2014/main" id="{EDEE1088-F974-7FC0-A8DA-15BB99D09CD6}"/>
              </a:ext>
            </a:extLst>
          </p:cNvPr>
          <p:cNvSpPr txBox="1"/>
          <p:nvPr/>
        </p:nvSpPr>
        <p:spPr>
          <a:xfrm>
            <a:off x="533399" y="1676400"/>
            <a:ext cx="11260015" cy="2015936"/>
          </a:xfrm>
          <a:prstGeom prst="rect">
            <a:avLst/>
          </a:prstGeom>
          <a:noFill/>
        </p:spPr>
        <p:txBody>
          <a:bodyPr wrap="square" rtlCol="0">
            <a:spAutoFit/>
          </a:bodyPr>
          <a:lstStyle/>
          <a:p>
            <a:r>
              <a:rPr lang="en-US" sz="2500" dirty="0">
                <a:solidFill>
                  <a:srgbClr val="31326F"/>
                </a:solidFill>
              </a:rPr>
              <a:t>An employee survey is a method used by organizations to gather feedback from employees about their work environment, satisfaction, and performance. It plays an important role in understanding employee needs, improving productivity, and building a positive workplace culture. The data collected from such surveys helps management make informed decisions for overall organizational growth.</a:t>
            </a:r>
            <a:endParaRPr lang="en-IN" sz="2500" dirty="0">
              <a:solidFill>
                <a:srgbClr val="31326F"/>
              </a:solidFill>
            </a:endParaRPr>
          </a:p>
        </p:txBody>
      </p:sp>
    </p:spTree>
    <p:extLst>
      <p:ext uri="{BB962C8B-B14F-4D97-AF65-F5344CB8AC3E}">
        <p14:creationId xmlns:p14="http://schemas.microsoft.com/office/powerpoint/2010/main" val="193679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818C94-AC89-CB75-BA06-9780836FB171}"/>
              </a:ext>
            </a:extLst>
          </p:cNvPr>
          <p:cNvSpPr txBox="1"/>
          <p:nvPr/>
        </p:nvSpPr>
        <p:spPr>
          <a:xfrm>
            <a:off x="2689123" y="0"/>
            <a:ext cx="6813755" cy="1200329"/>
          </a:xfrm>
          <a:prstGeom prst="rect">
            <a:avLst/>
          </a:prstGeom>
          <a:noFill/>
        </p:spPr>
        <p:txBody>
          <a:bodyPr wrap="square" rtlCol="0">
            <a:spAutoFit/>
          </a:bodyPr>
          <a:lstStyle/>
          <a:p>
            <a:pPr algn="ctr"/>
            <a:r>
              <a:rPr lang="en-US" sz="7200" b="1" dirty="0">
                <a:solidFill>
                  <a:srgbClr val="31326F"/>
                </a:solidFill>
              </a:rPr>
              <a:t>Existing System</a:t>
            </a:r>
            <a:endParaRPr lang="en-IN" sz="7200" b="1" dirty="0">
              <a:solidFill>
                <a:srgbClr val="31326F"/>
              </a:solidFill>
            </a:endParaRPr>
          </a:p>
        </p:txBody>
      </p:sp>
      <p:sp>
        <p:nvSpPr>
          <p:cNvPr id="3" name="TextBox 2">
            <a:extLst>
              <a:ext uri="{FF2B5EF4-FFF2-40B4-BE49-F238E27FC236}">
                <a16:creationId xmlns:a16="http://schemas.microsoft.com/office/drawing/2014/main" id="{A1F69662-E79C-BFF8-43BD-4D0E75514F6C}"/>
              </a:ext>
            </a:extLst>
          </p:cNvPr>
          <p:cNvSpPr txBox="1"/>
          <p:nvPr/>
        </p:nvSpPr>
        <p:spPr>
          <a:xfrm>
            <a:off x="579119" y="1478280"/>
            <a:ext cx="11209757" cy="2015936"/>
          </a:xfrm>
          <a:prstGeom prst="rect">
            <a:avLst/>
          </a:prstGeom>
          <a:noFill/>
        </p:spPr>
        <p:txBody>
          <a:bodyPr wrap="square" rtlCol="0">
            <a:spAutoFit/>
          </a:bodyPr>
          <a:lstStyle/>
          <a:p>
            <a:r>
              <a:rPr lang="en-US" sz="2500" dirty="0">
                <a:solidFill>
                  <a:srgbClr val="31326F"/>
                </a:solidFill>
              </a:rPr>
              <a:t>In most organizations, employee survey data is analyzed manually using spreadsheets or basic tools like Excel. This approach is time-consuming, lacks automation, and provides limited visualization. As a result, identifying patterns, trends, and key insights from employee feedback becomes difficult and inefficient.</a:t>
            </a:r>
            <a:endParaRPr lang="en-IN" sz="2500" dirty="0">
              <a:solidFill>
                <a:srgbClr val="31326F"/>
              </a:solidFill>
            </a:endParaRPr>
          </a:p>
        </p:txBody>
      </p:sp>
    </p:spTree>
    <p:extLst>
      <p:ext uri="{BB962C8B-B14F-4D97-AF65-F5344CB8AC3E}">
        <p14:creationId xmlns:p14="http://schemas.microsoft.com/office/powerpoint/2010/main" val="21357798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854834D5-A676-4CED-6888-85465BC3E7CF}"/>
              </a:ext>
            </a:extLst>
          </p:cNvPr>
          <p:cNvSpPr/>
          <p:nvPr/>
        </p:nvSpPr>
        <p:spPr>
          <a:xfrm>
            <a:off x="225323" y="1230619"/>
            <a:ext cx="5192250" cy="5236573"/>
          </a:xfrm>
          <a:prstGeom prst="roundRect">
            <a:avLst/>
          </a:prstGeom>
          <a:solidFill>
            <a:srgbClr val="31326F"/>
          </a:solidFill>
          <a:ln w="38100">
            <a:solidFill>
              <a:srgbClr val="637A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descr="A diagram of a problem statement">
            <a:extLst>
              <a:ext uri="{FF2B5EF4-FFF2-40B4-BE49-F238E27FC236}">
                <a16:creationId xmlns:a16="http://schemas.microsoft.com/office/drawing/2014/main" id="{06B51E64-A990-2AEC-563D-7625BD380F66}"/>
              </a:ext>
            </a:extLst>
          </p:cNvPr>
          <p:cNvPicPr>
            <a:picLocks noChangeAspect="1"/>
          </p:cNvPicPr>
          <p:nvPr/>
        </p:nvPicPr>
        <p:blipFill>
          <a:blip r:embed="rId2"/>
          <a:stretch>
            <a:fillRect/>
          </a:stretch>
        </p:blipFill>
        <p:spPr>
          <a:xfrm>
            <a:off x="78657" y="1124898"/>
            <a:ext cx="5338916" cy="5581594"/>
          </a:xfrm>
          <a:prstGeom prst="rect">
            <a:avLst/>
          </a:prstGeom>
        </p:spPr>
      </p:pic>
      <p:sp>
        <p:nvSpPr>
          <p:cNvPr id="3" name="TextBox 2">
            <a:extLst>
              <a:ext uri="{FF2B5EF4-FFF2-40B4-BE49-F238E27FC236}">
                <a16:creationId xmlns:a16="http://schemas.microsoft.com/office/drawing/2014/main" id="{91AB2BD3-7B0D-7724-885A-9D678FE5EBCA}"/>
              </a:ext>
            </a:extLst>
          </p:cNvPr>
          <p:cNvSpPr txBox="1"/>
          <p:nvPr/>
        </p:nvSpPr>
        <p:spPr>
          <a:xfrm>
            <a:off x="781665" y="30290"/>
            <a:ext cx="10628671" cy="1200329"/>
          </a:xfrm>
          <a:prstGeom prst="rect">
            <a:avLst/>
          </a:prstGeom>
          <a:noFill/>
        </p:spPr>
        <p:txBody>
          <a:bodyPr wrap="square" rtlCol="0">
            <a:spAutoFit/>
          </a:bodyPr>
          <a:lstStyle/>
          <a:p>
            <a:pPr algn="ctr"/>
            <a:r>
              <a:rPr lang="en-US" sz="7200" b="1" dirty="0">
                <a:solidFill>
                  <a:srgbClr val="31326F"/>
                </a:solidFill>
              </a:rPr>
              <a:t>Problem Statement</a:t>
            </a:r>
            <a:endParaRPr lang="en-IN" sz="7200" b="1" dirty="0">
              <a:solidFill>
                <a:srgbClr val="31326F"/>
              </a:solidFill>
            </a:endParaRPr>
          </a:p>
        </p:txBody>
      </p:sp>
      <p:sp>
        <p:nvSpPr>
          <p:cNvPr id="4" name="TextBox 3">
            <a:extLst>
              <a:ext uri="{FF2B5EF4-FFF2-40B4-BE49-F238E27FC236}">
                <a16:creationId xmlns:a16="http://schemas.microsoft.com/office/drawing/2014/main" id="{C403B874-D05B-174F-E482-9959D39C2714}"/>
              </a:ext>
            </a:extLst>
          </p:cNvPr>
          <p:cNvSpPr txBox="1"/>
          <p:nvPr/>
        </p:nvSpPr>
        <p:spPr>
          <a:xfrm>
            <a:off x="5417573" y="1230619"/>
            <a:ext cx="6499123" cy="3477875"/>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solidFill>
                  <a:srgbClr val="31326F"/>
                </a:solidFill>
              </a:rPr>
              <a:t>Organizations struggle to efficiently analyze large volumes of employee survey data.</a:t>
            </a:r>
          </a:p>
          <a:p>
            <a:pPr marL="342900" indent="-342900">
              <a:buFont typeface="Wingdings" panose="05000000000000000000" pitchFamily="2" charset="2"/>
              <a:buChar char="Ø"/>
            </a:pPr>
            <a:r>
              <a:rPr lang="en-US" sz="2000" dirty="0">
                <a:solidFill>
                  <a:srgbClr val="31326F"/>
                </a:solidFill>
              </a:rPr>
              <a:t>Manual analysis is time-consuming and prone to errors.</a:t>
            </a:r>
          </a:p>
          <a:p>
            <a:pPr marL="342900" indent="-342900">
              <a:buFont typeface="Wingdings" panose="05000000000000000000" pitchFamily="2" charset="2"/>
              <a:buChar char="Ø"/>
            </a:pPr>
            <a:r>
              <a:rPr lang="en-US" sz="2000" dirty="0">
                <a:solidFill>
                  <a:srgbClr val="31326F"/>
                </a:solidFill>
              </a:rPr>
              <a:t>Identifying key trends and insights from raw survey responses is difficult.</a:t>
            </a:r>
          </a:p>
          <a:p>
            <a:pPr marL="342900" indent="-342900">
              <a:buFont typeface="Wingdings" panose="05000000000000000000" pitchFamily="2" charset="2"/>
              <a:buChar char="Ø"/>
            </a:pPr>
            <a:r>
              <a:rPr lang="en-US" sz="2000" dirty="0">
                <a:solidFill>
                  <a:srgbClr val="31326F"/>
                </a:solidFill>
              </a:rPr>
              <a:t>Lack of visualization makes it hard for management to understand employee satisfaction clearly.</a:t>
            </a:r>
          </a:p>
          <a:p>
            <a:pPr marL="342900" indent="-342900">
              <a:buFont typeface="Wingdings" panose="05000000000000000000" pitchFamily="2" charset="2"/>
              <a:buChar char="Ø"/>
            </a:pPr>
            <a:r>
              <a:rPr lang="en-US" sz="2000" dirty="0">
                <a:solidFill>
                  <a:srgbClr val="31326F"/>
                </a:solidFill>
              </a:rPr>
              <a:t>Current methods do not provide actionable insights for improving workplace culture and productivity.</a:t>
            </a:r>
          </a:p>
          <a:p>
            <a:endParaRPr lang="en-IN" sz="2000" dirty="0">
              <a:solidFill>
                <a:srgbClr val="31326F"/>
              </a:solidFill>
            </a:endParaRPr>
          </a:p>
        </p:txBody>
      </p:sp>
    </p:spTree>
    <p:extLst>
      <p:ext uri="{BB962C8B-B14F-4D97-AF65-F5344CB8AC3E}">
        <p14:creationId xmlns:p14="http://schemas.microsoft.com/office/powerpoint/2010/main" val="40797329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E5C4A-B907-CB75-89BB-92CA8FD680CA}"/>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5114B421-20DC-4149-FA39-65C65639FF24}"/>
              </a:ext>
            </a:extLst>
          </p:cNvPr>
          <p:cNvSpPr/>
          <p:nvPr/>
        </p:nvSpPr>
        <p:spPr>
          <a:xfrm>
            <a:off x="155248" y="1200329"/>
            <a:ext cx="5438878" cy="5288168"/>
          </a:xfrm>
          <a:prstGeom prst="roundRect">
            <a:avLst/>
          </a:prstGeom>
          <a:solidFill>
            <a:srgbClr val="31326F"/>
          </a:solidFill>
          <a:ln w="38100">
            <a:solidFill>
              <a:srgbClr val="637A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descr="A diagram of a dart board&#10;&#10;AI-generated content may be incorrect.">
            <a:extLst>
              <a:ext uri="{FF2B5EF4-FFF2-40B4-BE49-F238E27FC236}">
                <a16:creationId xmlns:a16="http://schemas.microsoft.com/office/drawing/2014/main" id="{10E1F341-0A06-8291-924D-28B8397133E0}"/>
              </a:ext>
            </a:extLst>
          </p:cNvPr>
          <p:cNvPicPr>
            <a:picLocks noChangeAspect="1"/>
          </p:cNvPicPr>
          <p:nvPr/>
        </p:nvPicPr>
        <p:blipFill>
          <a:blip r:embed="rId2"/>
          <a:stretch>
            <a:fillRect/>
          </a:stretch>
        </p:blipFill>
        <p:spPr>
          <a:xfrm>
            <a:off x="155248" y="1652428"/>
            <a:ext cx="5498300" cy="4524315"/>
          </a:xfrm>
          <a:prstGeom prst="rect">
            <a:avLst/>
          </a:prstGeom>
          <a:ln>
            <a:noFill/>
          </a:ln>
        </p:spPr>
      </p:pic>
      <p:sp>
        <p:nvSpPr>
          <p:cNvPr id="3" name="TextBox 2">
            <a:extLst>
              <a:ext uri="{FF2B5EF4-FFF2-40B4-BE49-F238E27FC236}">
                <a16:creationId xmlns:a16="http://schemas.microsoft.com/office/drawing/2014/main" id="{A1A45482-E90F-535C-B164-356F757A9AFF}"/>
              </a:ext>
            </a:extLst>
          </p:cNvPr>
          <p:cNvSpPr txBox="1"/>
          <p:nvPr/>
        </p:nvSpPr>
        <p:spPr>
          <a:xfrm>
            <a:off x="2689123" y="0"/>
            <a:ext cx="6813755" cy="1200329"/>
          </a:xfrm>
          <a:prstGeom prst="rect">
            <a:avLst/>
          </a:prstGeom>
          <a:noFill/>
        </p:spPr>
        <p:txBody>
          <a:bodyPr wrap="square" rtlCol="0">
            <a:spAutoFit/>
          </a:bodyPr>
          <a:lstStyle/>
          <a:p>
            <a:pPr algn="ctr"/>
            <a:r>
              <a:rPr lang="en-US" sz="7200" b="1" dirty="0">
                <a:solidFill>
                  <a:srgbClr val="31326F"/>
                </a:solidFill>
              </a:rPr>
              <a:t>OBJECTIVES</a:t>
            </a:r>
            <a:endParaRPr lang="en-IN" sz="7200" b="1" dirty="0">
              <a:solidFill>
                <a:srgbClr val="31326F"/>
              </a:solidFill>
            </a:endParaRPr>
          </a:p>
        </p:txBody>
      </p:sp>
      <p:sp>
        <p:nvSpPr>
          <p:cNvPr id="4" name="TextBox 3">
            <a:extLst>
              <a:ext uri="{FF2B5EF4-FFF2-40B4-BE49-F238E27FC236}">
                <a16:creationId xmlns:a16="http://schemas.microsoft.com/office/drawing/2014/main" id="{021AB99E-7877-0522-BAB5-DFD99D9D9476}"/>
              </a:ext>
            </a:extLst>
          </p:cNvPr>
          <p:cNvSpPr txBox="1"/>
          <p:nvPr/>
        </p:nvSpPr>
        <p:spPr>
          <a:xfrm>
            <a:off x="5732206" y="1652428"/>
            <a:ext cx="6154994" cy="3046988"/>
          </a:xfrm>
          <a:prstGeom prst="rect">
            <a:avLst/>
          </a:prstGeom>
          <a:noFill/>
        </p:spPr>
        <p:txBody>
          <a:bodyPr wrap="square" rtlCol="0">
            <a:spAutoFit/>
          </a:bodyPr>
          <a:lstStyle/>
          <a:p>
            <a:pPr marL="285750" indent="-285750">
              <a:buFont typeface="Wingdings" panose="05000000000000000000" pitchFamily="2" charset="2"/>
              <a:buChar char="q"/>
            </a:pPr>
            <a:r>
              <a:rPr lang="en-US" sz="2400" b="1" dirty="0">
                <a:solidFill>
                  <a:srgbClr val="31326F"/>
                </a:solidFill>
              </a:rPr>
              <a:t>Perform Exploratory Data Analysis (EDA) on survey data.</a:t>
            </a:r>
          </a:p>
          <a:p>
            <a:pPr marL="285750" indent="-285750">
              <a:buFont typeface="Wingdings" panose="05000000000000000000" pitchFamily="2" charset="2"/>
              <a:buChar char="q"/>
            </a:pPr>
            <a:r>
              <a:rPr lang="en-US" sz="2400" b="1" dirty="0">
                <a:solidFill>
                  <a:srgbClr val="31326F"/>
                </a:solidFill>
              </a:rPr>
              <a:t>Identify satisfaction levels and key influencing factors.</a:t>
            </a:r>
          </a:p>
          <a:p>
            <a:pPr marL="285750" indent="-285750">
              <a:buFont typeface="Wingdings" panose="05000000000000000000" pitchFamily="2" charset="2"/>
              <a:buChar char="q"/>
            </a:pPr>
            <a:r>
              <a:rPr lang="en-US" sz="2400" b="1" dirty="0">
                <a:solidFill>
                  <a:srgbClr val="31326F"/>
                </a:solidFill>
              </a:rPr>
              <a:t>Visualize results through charts and summaries.</a:t>
            </a:r>
          </a:p>
          <a:p>
            <a:pPr marL="285750" indent="-285750">
              <a:buFont typeface="Wingdings" panose="05000000000000000000" pitchFamily="2" charset="2"/>
              <a:buChar char="q"/>
            </a:pPr>
            <a:r>
              <a:rPr lang="en-US" sz="2400" b="1" dirty="0">
                <a:solidFill>
                  <a:srgbClr val="31326F"/>
                </a:solidFill>
              </a:rPr>
              <a:t>Support HR decisions with clear </a:t>
            </a:r>
            <a:r>
              <a:rPr lang="en-US" sz="2400" b="1" dirty="0" err="1">
                <a:solidFill>
                  <a:srgbClr val="31326F"/>
                </a:solidFill>
              </a:rPr>
              <a:t>insigh</a:t>
            </a:r>
            <a:endParaRPr lang="en-US" sz="2400" b="1" dirty="0">
              <a:solidFill>
                <a:srgbClr val="31326F"/>
              </a:solidFill>
            </a:endParaRPr>
          </a:p>
          <a:p>
            <a:endParaRPr lang="en-IN" sz="2400" dirty="0">
              <a:solidFill>
                <a:srgbClr val="31326F"/>
              </a:solidFill>
            </a:endParaRPr>
          </a:p>
        </p:txBody>
      </p:sp>
    </p:spTree>
    <p:extLst>
      <p:ext uri="{BB962C8B-B14F-4D97-AF65-F5344CB8AC3E}">
        <p14:creationId xmlns:p14="http://schemas.microsoft.com/office/powerpoint/2010/main" val="6273558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CD22B-61D5-6BDF-3962-DD6A36FA0E9F}"/>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98253C15-9BF7-61DB-772C-9082BA713114}"/>
              </a:ext>
            </a:extLst>
          </p:cNvPr>
          <p:cNvSpPr/>
          <p:nvPr/>
        </p:nvSpPr>
        <p:spPr>
          <a:xfrm>
            <a:off x="462116" y="2243271"/>
            <a:ext cx="11308736" cy="4275516"/>
          </a:xfrm>
          <a:prstGeom prst="roundRect">
            <a:avLst/>
          </a:prstGeom>
          <a:solidFill>
            <a:srgbClr val="31326F"/>
          </a:solidFill>
          <a:ln w="38100">
            <a:solidFill>
              <a:srgbClr val="637A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descr="A diagram of a flowchart&#10;&#10;AI-generated content may be incorrect.">
            <a:extLst>
              <a:ext uri="{FF2B5EF4-FFF2-40B4-BE49-F238E27FC236}">
                <a16:creationId xmlns:a16="http://schemas.microsoft.com/office/drawing/2014/main" id="{BC53FDC1-EF64-74FC-5AC3-35F93A4A3B4B}"/>
              </a:ext>
            </a:extLst>
          </p:cNvPr>
          <p:cNvPicPr>
            <a:picLocks noChangeAspect="1"/>
          </p:cNvPicPr>
          <p:nvPr/>
        </p:nvPicPr>
        <p:blipFill>
          <a:blip r:embed="rId2"/>
          <a:stretch>
            <a:fillRect/>
          </a:stretch>
        </p:blipFill>
        <p:spPr>
          <a:xfrm>
            <a:off x="1869440" y="2243271"/>
            <a:ext cx="8453120" cy="4486910"/>
          </a:xfrm>
          <a:prstGeom prst="rect">
            <a:avLst/>
          </a:prstGeom>
        </p:spPr>
      </p:pic>
      <p:sp>
        <p:nvSpPr>
          <p:cNvPr id="3" name="TextBox 2">
            <a:extLst>
              <a:ext uri="{FF2B5EF4-FFF2-40B4-BE49-F238E27FC236}">
                <a16:creationId xmlns:a16="http://schemas.microsoft.com/office/drawing/2014/main" id="{D1CC0090-B134-0D32-C117-5D00D55FFC99}"/>
              </a:ext>
            </a:extLst>
          </p:cNvPr>
          <p:cNvSpPr txBox="1"/>
          <p:nvPr/>
        </p:nvSpPr>
        <p:spPr>
          <a:xfrm>
            <a:off x="2290916" y="30290"/>
            <a:ext cx="7610168" cy="1200329"/>
          </a:xfrm>
          <a:prstGeom prst="rect">
            <a:avLst/>
          </a:prstGeom>
          <a:noFill/>
        </p:spPr>
        <p:txBody>
          <a:bodyPr wrap="square" rtlCol="0">
            <a:spAutoFit/>
          </a:bodyPr>
          <a:lstStyle/>
          <a:p>
            <a:pPr algn="ctr"/>
            <a:r>
              <a:rPr lang="en-US" sz="7200" b="1" dirty="0">
                <a:solidFill>
                  <a:srgbClr val="31326F"/>
                </a:solidFill>
              </a:rPr>
              <a:t>Scope Of Project</a:t>
            </a:r>
            <a:endParaRPr lang="en-IN" sz="7200" b="1" dirty="0">
              <a:solidFill>
                <a:srgbClr val="31326F"/>
              </a:solidFill>
            </a:endParaRPr>
          </a:p>
        </p:txBody>
      </p:sp>
      <p:sp>
        <p:nvSpPr>
          <p:cNvPr id="4" name="TextBox 3">
            <a:extLst>
              <a:ext uri="{FF2B5EF4-FFF2-40B4-BE49-F238E27FC236}">
                <a16:creationId xmlns:a16="http://schemas.microsoft.com/office/drawing/2014/main" id="{8BB6A1B8-BF9F-2AE9-F1B0-733DD71A18A5}"/>
              </a:ext>
            </a:extLst>
          </p:cNvPr>
          <p:cNvSpPr txBox="1"/>
          <p:nvPr/>
        </p:nvSpPr>
        <p:spPr>
          <a:xfrm>
            <a:off x="579120" y="1230619"/>
            <a:ext cx="10914790" cy="707886"/>
          </a:xfrm>
          <a:prstGeom prst="rect">
            <a:avLst/>
          </a:prstGeom>
          <a:noFill/>
        </p:spPr>
        <p:txBody>
          <a:bodyPr wrap="square" rtlCol="0">
            <a:spAutoFit/>
          </a:bodyPr>
          <a:lstStyle/>
          <a:p>
            <a:r>
              <a:rPr lang="en-US" sz="2000" dirty="0">
                <a:solidFill>
                  <a:srgbClr val="31326F"/>
                </a:solidFill>
              </a:rPr>
              <a:t>This project focuses on data cleaning, analysis, and visualization of employee survey </a:t>
            </a:r>
            <a:r>
              <a:rPr lang="en-US" sz="2000" dirty="0" err="1">
                <a:solidFill>
                  <a:srgbClr val="31326F"/>
                </a:solidFill>
              </a:rPr>
              <a:t>results.It</a:t>
            </a:r>
            <a:r>
              <a:rPr lang="en-US" sz="2000" dirty="0">
                <a:solidFill>
                  <a:srgbClr val="31326F"/>
                </a:solidFill>
              </a:rPr>
              <a:t> excludes predictive modeling and focuses only on EDA and reporting.</a:t>
            </a:r>
            <a:endParaRPr lang="en-IN" sz="2000" dirty="0">
              <a:solidFill>
                <a:srgbClr val="31326F"/>
              </a:solidFill>
            </a:endParaRPr>
          </a:p>
        </p:txBody>
      </p:sp>
    </p:spTree>
    <p:extLst>
      <p:ext uri="{BB962C8B-B14F-4D97-AF65-F5344CB8AC3E}">
        <p14:creationId xmlns:p14="http://schemas.microsoft.com/office/powerpoint/2010/main" val="25126114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049DD-AE12-CB9A-6EF2-9B5A9407CEED}"/>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C4D9C13-06F9-B7B9-CBD6-E3324DBFCAAB}"/>
              </a:ext>
            </a:extLst>
          </p:cNvPr>
          <p:cNvSpPr/>
          <p:nvPr/>
        </p:nvSpPr>
        <p:spPr>
          <a:xfrm>
            <a:off x="452284" y="1396181"/>
            <a:ext cx="11318568" cy="5122606"/>
          </a:xfrm>
          <a:prstGeom prst="roundRect">
            <a:avLst/>
          </a:prstGeom>
          <a:solidFill>
            <a:srgbClr val="31326F"/>
          </a:solidFill>
          <a:ln w="38100">
            <a:solidFill>
              <a:srgbClr val="637A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descr="A diagram of data processing&#10;&#10;AI-generated content may be incorrect.">
            <a:extLst>
              <a:ext uri="{FF2B5EF4-FFF2-40B4-BE49-F238E27FC236}">
                <a16:creationId xmlns:a16="http://schemas.microsoft.com/office/drawing/2014/main" id="{532897B4-B1FF-93B1-780E-EDE26794B686}"/>
              </a:ext>
            </a:extLst>
          </p:cNvPr>
          <p:cNvPicPr>
            <a:picLocks noChangeAspect="1"/>
          </p:cNvPicPr>
          <p:nvPr/>
        </p:nvPicPr>
        <p:blipFill>
          <a:blip r:embed="rId2"/>
          <a:stretch>
            <a:fillRect/>
          </a:stretch>
        </p:blipFill>
        <p:spPr>
          <a:xfrm>
            <a:off x="1524000" y="1028546"/>
            <a:ext cx="9144000" cy="5857875"/>
          </a:xfrm>
          <a:prstGeom prst="rect">
            <a:avLst/>
          </a:prstGeom>
        </p:spPr>
      </p:pic>
      <p:sp>
        <p:nvSpPr>
          <p:cNvPr id="3" name="TextBox 2">
            <a:extLst>
              <a:ext uri="{FF2B5EF4-FFF2-40B4-BE49-F238E27FC236}">
                <a16:creationId xmlns:a16="http://schemas.microsoft.com/office/drawing/2014/main" id="{9AEE58D3-5FCD-37B8-4094-D787901F8E2E}"/>
              </a:ext>
            </a:extLst>
          </p:cNvPr>
          <p:cNvSpPr txBox="1"/>
          <p:nvPr/>
        </p:nvSpPr>
        <p:spPr>
          <a:xfrm>
            <a:off x="1081549" y="30290"/>
            <a:ext cx="10028903" cy="1200329"/>
          </a:xfrm>
          <a:prstGeom prst="rect">
            <a:avLst/>
          </a:prstGeom>
          <a:noFill/>
        </p:spPr>
        <p:txBody>
          <a:bodyPr wrap="square" rtlCol="0">
            <a:spAutoFit/>
          </a:bodyPr>
          <a:lstStyle/>
          <a:p>
            <a:pPr algn="ctr"/>
            <a:r>
              <a:rPr lang="en-US" sz="7200" b="1" dirty="0">
                <a:solidFill>
                  <a:srgbClr val="31326F"/>
                </a:solidFill>
              </a:rPr>
              <a:t>Process Of Project</a:t>
            </a:r>
            <a:endParaRPr lang="en-IN" sz="7200" b="1" dirty="0">
              <a:solidFill>
                <a:srgbClr val="31326F"/>
              </a:solidFill>
            </a:endParaRPr>
          </a:p>
        </p:txBody>
      </p:sp>
    </p:spTree>
    <p:extLst>
      <p:ext uri="{BB962C8B-B14F-4D97-AF65-F5344CB8AC3E}">
        <p14:creationId xmlns:p14="http://schemas.microsoft.com/office/powerpoint/2010/main" val="962678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BA32F-8D34-87B4-2A58-ED8BDD427714}"/>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A6FAACB9-9B6D-3E02-42F7-28936F326AA6}"/>
              </a:ext>
            </a:extLst>
          </p:cNvPr>
          <p:cNvSpPr/>
          <p:nvPr/>
        </p:nvSpPr>
        <p:spPr>
          <a:xfrm>
            <a:off x="452284" y="2035277"/>
            <a:ext cx="11318568" cy="4483510"/>
          </a:xfrm>
          <a:prstGeom prst="roundRect">
            <a:avLst/>
          </a:prstGeom>
          <a:solidFill>
            <a:srgbClr val="31326F"/>
          </a:solidFill>
          <a:ln w="38100">
            <a:solidFill>
              <a:srgbClr val="637A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descr="A diagram of a process&#10;&#10;AI-generated content may be incorrect.">
            <a:extLst>
              <a:ext uri="{FF2B5EF4-FFF2-40B4-BE49-F238E27FC236}">
                <a16:creationId xmlns:a16="http://schemas.microsoft.com/office/drawing/2014/main" id="{5C7063EE-49C0-C371-68B1-AB416E94942E}"/>
              </a:ext>
            </a:extLst>
          </p:cNvPr>
          <p:cNvPicPr>
            <a:picLocks noChangeAspect="1"/>
          </p:cNvPicPr>
          <p:nvPr/>
        </p:nvPicPr>
        <p:blipFill>
          <a:blip r:embed="rId2"/>
          <a:stretch>
            <a:fillRect/>
          </a:stretch>
        </p:blipFill>
        <p:spPr>
          <a:xfrm>
            <a:off x="1396181" y="1670368"/>
            <a:ext cx="9144000" cy="5491392"/>
          </a:xfrm>
          <a:prstGeom prst="rect">
            <a:avLst/>
          </a:prstGeom>
        </p:spPr>
      </p:pic>
      <p:sp>
        <p:nvSpPr>
          <p:cNvPr id="3" name="TextBox 2">
            <a:extLst>
              <a:ext uri="{FF2B5EF4-FFF2-40B4-BE49-F238E27FC236}">
                <a16:creationId xmlns:a16="http://schemas.microsoft.com/office/drawing/2014/main" id="{3BBDB9E0-F52E-356B-62A8-1CAA6CD4273D}"/>
              </a:ext>
            </a:extLst>
          </p:cNvPr>
          <p:cNvSpPr txBox="1"/>
          <p:nvPr/>
        </p:nvSpPr>
        <p:spPr>
          <a:xfrm>
            <a:off x="452284" y="197439"/>
            <a:ext cx="11287432" cy="861774"/>
          </a:xfrm>
          <a:prstGeom prst="rect">
            <a:avLst/>
          </a:prstGeom>
          <a:noFill/>
        </p:spPr>
        <p:txBody>
          <a:bodyPr wrap="square" rtlCol="0">
            <a:spAutoFit/>
          </a:bodyPr>
          <a:lstStyle/>
          <a:p>
            <a:pPr algn="ctr"/>
            <a:r>
              <a:rPr lang="en-US" sz="5000" b="1" dirty="0">
                <a:solidFill>
                  <a:srgbClr val="31326F"/>
                </a:solidFill>
              </a:rPr>
              <a:t>Software Requirement Specification</a:t>
            </a:r>
            <a:endParaRPr lang="en-IN" sz="5000" b="1" dirty="0">
              <a:solidFill>
                <a:srgbClr val="31326F"/>
              </a:solidFill>
            </a:endParaRPr>
          </a:p>
        </p:txBody>
      </p:sp>
      <p:sp>
        <p:nvSpPr>
          <p:cNvPr id="4" name="TextBox 3">
            <a:extLst>
              <a:ext uri="{FF2B5EF4-FFF2-40B4-BE49-F238E27FC236}">
                <a16:creationId xmlns:a16="http://schemas.microsoft.com/office/drawing/2014/main" id="{955CAC4D-D182-E00D-ADFE-2C9422994010}"/>
              </a:ext>
            </a:extLst>
          </p:cNvPr>
          <p:cNvSpPr txBox="1"/>
          <p:nvPr/>
        </p:nvSpPr>
        <p:spPr>
          <a:xfrm>
            <a:off x="695469" y="1393369"/>
            <a:ext cx="7610168" cy="553998"/>
          </a:xfrm>
          <a:prstGeom prst="rect">
            <a:avLst/>
          </a:prstGeom>
          <a:noFill/>
        </p:spPr>
        <p:txBody>
          <a:bodyPr wrap="square" rtlCol="0">
            <a:spAutoFit/>
          </a:bodyPr>
          <a:lstStyle/>
          <a:p>
            <a:r>
              <a:rPr lang="en-US" sz="3000" b="1" dirty="0">
                <a:solidFill>
                  <a:srgbClr val="31326F"/>
                </a:solidFill>
              </a:rPr>
              <a:t>1. Functional Requirement</a:t>
            </a:r>
            <a:endParaRPr lang="en-IN" sz="3000" b="1" dirty="0">
              <a:solidFill>
                <a:srgbClr val="31326F"/>
              </a:solidFill>
            </a:endParaRPr>
          </a:p>
        </p:txBody>
      </p:sp>
    </p:spTree>
    <p:extLst>
      <p:ext uri="{BB962C8B-B14F-4D97-AF65-F5344CB8AC3E}">
        <p14:creationId xmlns:p14="http://schemas.microsoft.com/office/powerpoint/2010/main" val="29205802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B234A-3499-3CD2-CE38-61B5D7D1A042}"/>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74A6A361-F7E0-9769-4403-A321729D4BFB}"/>
              </a:ext>
            </a:extLst>
          </p:cNvPr>
          <p:cNvSpPr/>
          <p:nvPr/>
        </p:nvSpPr>
        <p:spPr>
          <a:xfrm>
            <a:off x="452284" y="2477729"/>
            <a:ext cx="11318568" cy="4109884"/>
          </a:xfrm>
          <a:prstGeom prst="roundRect">
            <a:avLst/>
          </a:prstGeom>
          <a:solidFill>
            <a:srgbClr val="31326F"/>
          </a:solidFill>
          <a:ln w="38100">
            <a:solidFill>
              <a:srgbClr val="637A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descr="A diagram of a blue umbrella&#10;&#10;AI-generated content may be incorrect.">
            <a:extLst>
              <a:ext uri="{FF2B5EF4-FFF2-40B4-BE49-F238E27FC236}">
                <a16:creationId xmlns:a16="http://schemas.microsoft.com/office/drawing/2014/main" id="{F664F75B-B38F-CB12-B723-31BEC6CAC0ED}"/>
              </a:ext>
            </a:extLst>
          </p:cNvPr>
          <p:cNvPicPr>
            <a:picLocks noChangeAspect="1"/>
          </p:cNvPicPr>
          <p:nvPr/>
        </p:nvPicPr>
        <p:blipFill>
          <a:blip r:embed="rId2"/>
          <a:stretch>
            <a:fillRect/>
          </a:stretch>
        </p:blipFill>
        <p:spPr>
          <a:xfrm>
            <a:off x="2765346" y="2245017"/>
            <a:ext cx="6464662" cy="4623311"/>
          </a:xfrm>
          <a:prstGeom prst="rect">
            <a:avLst/>
          </a:prstGeom>
        </p:spPr>
      </p:pic>
      <p:sp>
        <p:nvSpPr>
          <p:cNvPr id="3" name="TextBox 2">
            <a:extLst>
              <a:ext uri="{FF2B5EF4-FFF2-40B4-BE49-F238E27FC236}">
                <a16:creationId xmlns:a16="http://schemas.microsoft.com/office/drawing/2014/main" id="{0DDEBFA5-E7A2-A76C-D6CD-3504BA971C16}"/>
              </a:ext>
            </a:extLst>
          </p:cNvPr>
          <p:cNvSpPr txBox="1"/>
          <p:nvPr/>
        </p:nvSpPr>
        <p:spPr>
          <a:xfrm>
            <a:off x="516194" y="30290"/>
            <a:ext cx="11159613" cy="861774"/>
          </a:xfrm>
          <a:prstGeom prst="rect">
            <a:avLst/>
          </a:prstGeom>
          <a:noFill/>
        </p:spPr>
        <p:txBody>
          <a:bodyPr wrap="square" rtlCol="0">
            <a:spAutoFit/>
          </a:bodyPr>
          <a:lstStyle/>
          <a:p>
            <a:pPr algn="ctr"/>
            <a:r>
              <a:rPr lang="en-US" sz="5000" b="1" dirty="0">
                <a:solidFill>
                  <a:srgbClr val="31326F"/>
                </a:solidFill>
              </a:rPr>
              <a:t>Software Requirement Specification</a:t>
            </a:r>
            <a:endParaRPr lang="en-IN" sz="5000" b="1" dirty="0">
              <a:solidFill>
                <a:srgbClr val="31326F"/>
              </a:solidFill>
            </a:endParaRPr>
          </a:p>
        </p:txBody>
      </p:sp>
      <p:sp>
        <p:nvSpPr>
          <p:cNvPr id="4" name="TextBox 3">
            <a:extLst>
              <a:ext uri="{FF2B5EF4-FFF2-40B4-BE49-F238E27FC236}">
                <a16:creationId xmlns:a16="http://schemas.microsoft.com/office/drawing/2014/main" id="{F60B6C96-2F8C-013D-B852-815409E087AF}"/>
              </a:ext>
            </a:extLst>
          </p:cNvPr>
          <p:cNvSpPr txBox="1"/>
          <p:nvPr/>
        </p:nvSpPr>
        <p:spPr>
          <a:xfrm>
            <a:off x="685636" y="1747330"/>
            <a:ext cx="7610168" cy="553998"/>
          </a:xfrm>
          <a:prstGeom prst="rect">
            <a:avLst/>
          </a:prstGeom>
          <a:noFill/>
        </p:spPr>
        <p:txBody>
          <a:bodyPr wrap="square" rtlCol="0">
            <a:spAutoFit/>
          </a:bodyPr>
          <a:lstStyle/>
          <a:p>
            <a:r>
              <a:rPr lang="en-US" sz="3000" b="1" dirty="0">
                <a:solidFill>
                  <a:srgbClr val="31326F"/>
                </a:solidFill>
              </a:rPr>
              <a:t>2. Non Functional Requirement</a:t>
            </a:r>
            <a:endParaRPr lang="en-IN" sz="3000" b="1" dirty="0">
              <a:solidFill>
                <a:srgbClr val="31326F"/>
              </a:solidFill>
            </a:endParaRPr>
          </a:p>
        </p:txBody>
      </p:sp>
    </p:spTree>
    <p:extLst>
      <p:ext uri="{BB962C8B-B14F-4D97-AF65-F5344CB8AC3E}">
        <p14:creationId xmlns:p14="http://schemas.microsoft.com/office/powerpoint/2010/main" val="15231326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4F7D8-602D-66B0-5660-9641B1DA1226}"/>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F943C6DD-0CD3-CC14-F284-4704E4902961}"/>
              </a:ext>
            </a:extLst>
          </p:cNvPr>
          <p:cNvSpPr/>
          <p:nvPr/>
        </p:nvSpPr>
        <p:spPr>
          <a:xfrm>
            <a:off x="452284" y="2556387"/>
            <a:ext cx="11318568" cy="3962400"/>
          </a:xfrm>
          <a:prstGeom prst="roundRect">
            <a:avLst/>
          </a:prstGeom>
          <a:solidFill>
            <a:srgbClr val="31326F"/>
          </a:solidFill>
          <a:ln w="38100">
            <a:solidFill>
              <a:srgbClr val="637A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23B3391F-7115-435B-BA6E-DDF0F1324001}"/>
              </a:ext>
            </a:extLst>
          </p:cNvPr>
          <p:cNvSpPr txBox="1"/>
          <p:nvPr/>
        </p:nvSpPr>
        <p:spPr>
          <a:xfrm>
            <a:off x="781665" y="30290"/>
            <a:ext cx="10628671" cy="861774"/>
          </a:xfrm>
          <a:prstGeom prst="rect">
            <a:avLst/>
          </a:prstGeom>
          <a:noFill/>
        </p:spPr>
        <p:txBody>
          <a:bodyPr wrap="square" rtlCol="0">
            <a:spAutoFit/>
          </a:bodyPr>
          <a:lstStyle/>
          <a:p>
            <a:pPr algn="ctr"/>
            <a:r>
              <a:rPr lang="en-US" sz="5000" b="1" dirty="0">
                <a:solidFill>
                  <a:srgbClr val="31326F"/>
                </a:solidFill>
              </a:rPr>
              <a:t>Software Requirement Specification</a:t>
            </a:r>
            <a:endParaRPr lang="en-IN" sz="5000" b="1" dirty="0">
              <a:solidFill>
                <a:srgbClr val="31326F"/>
              </a:solidFill>
            </a:endParaRPr>
          </a:p>
        </p:txBody>
      </p:sp>
      <p:pic>
        <p:nvPicPr>
          <p:cNvPr id="3" name="Picture 2" descr="A screenshot of a computer&#10;&#10;AI-generated content may be incorrect.">
            <a:extLst>
              <a:ext uri="{FF2B5EF4-FFF2-40B4-BE49-F238E27FC236}">
                <a16:creationId xmlns:a16="http://schemas.microsoft.com/office/drawing/2014/main" id="{E633F7FA-220B-E554-4B83-DE641A83C7CD}"/>
              </a:ext>
            </a:extLst>
          </p:cNvPr>
          <p:cNvPicPr>
            <a:picLocks noChangeAspect="1"/>
          </p:cNvPicPr>
          <p:nvPr/>
        </p:nvPicPr>
        <p:blipFill>
          <a:blip r:embed="rId2"/>
          <a:stretch>
            <a:fillRect/>
          </a:stretch>
        </p:blipFill>
        <p:spPr>
          <a:xfrm>
            <a:off x="2777613" y="2188251"/>
            <a:ext cx="6400800" cy="4495800"/>
          </a:xfrm>
          <a:prstGeom prst="rect">
            <a:avLst/>
          </a:prstGeom>
        </p:spPr>
      </p:pic>
      <p:sp>
        <p:nvSpPr>
          <p:cNvPr id="4" name="TextBox 3">
            <a:extLst>
              <a:ext uri="{FF2B5EF4-FFF2-40B4-BE49-F238E27FC236}">
                <a16:creationId xmlns:a16="http://schemas.microsoft.com/office/drawing/2014/main" id="{B5FC4D76-730B-BF38-5952-1927E81A080E}"/>
              </a:ext>
            </a:extLst>
          </p:cNvPr>
          <p:cNvSpPr txBox="1"/>
          <p:nvPr/>
        </p:nvSpPr>
        <p:spPr>
          <a:xfrm>
            <a:off x="685636" y="1747330"/>
            <a:ext cx="7610168" cy="553998"/>
          </a:xfrm>
          <a:prstGeom prst="rect">
            <a:avLst/>
          </a:prstGeom>
          <a:noFill/>
        </p:spPr>
        <p:txBody>
          <a:bodyPr wrap="square" rtlCol="0">
            <a:spAutoFit/>
          </a:bodyPr>
          <a:lstStyle/>
          <a:p>
            <a:r>
              <a:rPr lang="en-US" sz="3000" b="1" dirty="0">
                <a:solidFill>
                  <a:srgbClr val="31326F"/>
                </a:solidFill>
              </a:rPr>
              <a:t>3. Tool Used</a:t>
            </a:r>
            <a:endParaRPr lang="en-IN" sz="3000" b="1" dirty="0">
              <a:solidFill>
                <a:srgbClr val="31326F"/>
              </a:solidFill>
            </a:endParaRPr>
          </a:p>
        </p:txBody>
      </p:sp>
    </p:spTree>
    <p:extLst>
      <p:ext uri="{BB962C8B-B14F-4D97-AF65-F5344CB8AC3E}">
        <p14:creationId xmlns:p14="http://schemas.microsoft.com/office/powerpoint/2010/main" val="36581720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F424B-AA99-28EA-F64F-3E18100BCA1A}"/>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5AEBED93-18F4-A5E5-F0B1-70E61D6375D2}"/>
              </a:ext>
            </a:extLst>
          </p:cNvPr>
          <p:cNvSpPr/>
          <p:nvPr/>
        </p:nvSpPr>
        <p:spPr>
          <a:xfrm>
            <a:off x="257373" y="1858297"/>
            <a:ext cx="11726840" cy="4828784"/>
          </a:xfrm>
          <a:prstGeom prst="roundRect">
            <a:avLst>
              <a:gd name="adj" fmla="val 6679"/>
            </a:avLst>
          </a:prstGeom>
          <a:solidFill>
            <a:srgbClr val="31326F"/>
          </a:solidFill>
          <a:ln w="38100">
            <a:solidFill>
              <a:srgbClr val="637A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6119095-320B-30CA-BD9F-986B9D6014F0}"/>
              </a:ext>
            </a:extLst>
          </p:cNvPr>
          <p:cNvSpPr txBox="1"/>
          <p:nvPr/>
        </p:nvSpPr>
        <p:spPr>
          <a:xfrm>
            <a:off x="2689122" y="-122918"/>
            <a:ext cx="6813755" cy="1138773"/>
          </a:xfrm>
          <a:prstGeom prst="rect">
            <a:avLst/>
          </a:prstGeom>
          <a:noFill/>
        </p:spPr>
        <p:txBody>
          <a:bodyPr wrap="square" rtlCol="0">
            <a:spAutoFit/>
          </a:bodyPr>
          <a:lstStyle/>
          <a:p>
            <a:pPr algn="ctr"/>
            <a:r>
              <a:rPr lang="en-US" sz="6800" b="1" dirty="0">
                <a:solidFill>
                  <a:srgbClr val="31326F"/>
                </a:solidFill>
              </a:rPr>
              <a:t>UML Diagrams</a:t>
            </a:r>
            <a:endParaRPr lang="en-IN" sz="6800" b="1" dirty="0">
              <a:solidFill>
                <a:srgbClr val="31326F"/>
              </a:solidFill>
            </a:endParaRPr>
          </a:p>
        </p:txBody>
      </p:sp>
      <p:sp>
        <p:nvSpPr>
          <p:cNvPr id="12" name="TextBox 11">
            <a:extLst>
              <a:ext uri="{FF2B5EF4-FFF2-40B4-BE49-F238E27FC236}">
                <a16:creationId xmlns:a16="http://schemas.microsoft.com/office/drawing/2014/main" id="{F60E71AC-F952-F3BC-1981-35D57BFA35D8}"/>
              </a:ext>
            </a:extLst>
          </p:cNvPr>
          <p:cNvSpPr txBox="1"/>
          <p:nvPr/>
        </p:nvSpPr>
        <p:spPr>
          <a:xfrm>
            <a:off x="471948" y="1120877"/>
            <a:ext cx="5034117" cy="553998"/>
          </a:xfrm>
          <a:prstGeom prst="rect">
            <a:avLst/>
          </a:prstGeom>
          <a:noFill/>
        </p:spPr>
        <p:txBody>
          <a:bodyPr wrap="square" rtlCol="0">
            <a:spAutoFit/>
          </a:bodyPr>
          <a:lstStyle/>
          <a:p>
            <a:r>
              <a:rPr lang="en-US" sz="3000" b="1" dirty="0">
                <a:solidFill>
                  <a:srgbClr val="31326F"/>
                </a:solidFill>
              </a:rPr>
              <a:t>1. Context Level Diagram</a:t>
            </a:r>
            <a:endParaRPr lang="en-IN" sz="3000" b="1" dirty="0">
              <a:solidFill>
                <a:srgbClr val="31326F"/>
              </a:solidFill>
            </a:endParaRPr>
          </a:p>
        </p:txBody>
      </p:sp>
      <p:pic>
        <p:nvPicPr>
          <p:cNvPr id="3" name="Picture 2" descr="A diagram of a diagram&#10;&#10;AI-generated content may be incorrect.">
            <a:extLst>
              <a:ext uri="{FF2B5EF4-FFF2-40B4-BE49-F238E27FC236}">
                <a16:creationId xmlns:a16="http://schemas.microsoft.com/office/drawing/2014/main" id="{8E184171-B298-C130-9021-C9A683CFCB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9122" y="2109757"/>
            <a:ext cx="6696710" cy="4464473"/>
          </a:xfrm>
          <a:prstGeom prst="rect">
            <a:avLst/>
          </a:prstGeom>
        </p:spPr>
      </p:pic>
    </p:spTree>
    <p:extLst>
      <p:ext uri="{BB962C8B-B14F-4D97-AF65-F5344CB8AC3E}">
        <p14:creationId xmlns:p14="http://schemas.microsoft.com/office/powerpoint/2010/main" val="35947904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95CE7FEC-05C6-836B-7425-954EBF7F3E10}"/>
              </a:ext>
            </a:extLst>
          </p:cNvPr>
          <p:cNvSpPr/>
          <p:nvPr/>
        </p:nvSpPr>
        <p:spPr>
          <a:xfrm>
            <a:off x="257373" y="1858297"/>
            <a:ext cx="11726840" cy="4828784"/>
          </a:xfrm>
          <a:prstGeom prst="roundRect">
            <a:avLst>
              <a:gd name="adj" fmla="val 6679"/>
            </a:avLst>
          </a:prstGeom>
          <a:solidFill>
            <a:srgbClr val="31326F"/>
          </a:solidFill>
          <a:ln w="38100">
            <a:solidFill>
              <a:srgbClr val="637A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B574D4F0-2F7E-3369-3871-280E07291664}"/>
              </a:ext>
            </a:extLst>
          </p:cNvPr>
          <p:cNvSpPr txBox="1"/>
          <p:nvPr/>
        </p:nvSpPr>
        <p:spPr>
          <a:xfrm>
            <a:off x="2689122" y="-122918"/>
            <a:ext cx="6813755" cy="1138773"/>
          </a:xfrm>
          <a:prstGeom prst="rect">
            <a:avLst/>
          </a:prstGeom>
          <a:noFill/>
        </p:spPr>
        <p:txBody>
          <a:bodyPr wrap="square" rtlCol="0">
            <a:spAutoFit/>
          </a:bodyPr>
          <a:lstStyle/>
          <a:p>
            <a:pPr algn="ctr"/>
            <a:r>
              <a:rPr lang="en-US" sz="6800" b="1" dirty="0">
                <a:solidFill>
                  <a:srgbClr val="31326F"/>
                </a:solidFill>
              </a:rPr>
              <a:t>UML Diagrams</a:t>
            </a:r>
            <a:endParaRPr lang="en-IN" sz="6800" b="1" dirty="0">
              <a:solidFill>
                <a:srgbClr val="31326F"/>
              </a:solidFill>
            </a:endParaRPr>
          </a:p>
        </p:txBody>
      </p:sp>
      <p:sp>
        <p:nvSpPr>
          <p:cNvPr id="12" name="TextBox 11">
            <a:extLst>
              <a:ext uri="{FF2B5EF4-FFF2-40B4-BE49-F238E27FC236}">
                <a16:creationId xmlns:a16="http://schemas.microsoft.com/office/drawing/2014/main" id="{89FFFA31-52EF-139E-7B2B-9B8F3B9F1BBB}"/>
              </a:ext>
            </a:extLst>
          </p:cNvPr>
          <p:cNvSpPr txBox="1"/>
          <p:nvPr/>
        </p:nvSpPr>
        <p:spPr>
          <a:xfrm>
            <a:off x="471948" y="1120877"/>
            <a:ext cx="5034117" cy="553998"/>
          </a:xfrm>
          <a:prstGeom prst="rect">
            <a:avLst/>
          </a:prstGeom>
          <a:noFill/>
        </p:spPr>
        <p:txBody>
          <a:bodyPr wrap="square" rtlCol="0">
            <a:spAutoFit/>
          </a:bodyPr>
          <a:lstStyle/>
          <a:p>
            <a:r>
              <a:rPr lang="en-US" sz="3000" b="1" dirty="0">
                <a:solidFill>
                  <a:srgbClr val="31326F"/>
                </a:solidFill>
              </a:rPr>
              <a:t>2. Use case Diagram</a:t>
            </a:r>
            <a:endParaRPr lang="en-IN" sz="3000" b="1" dirty="0">
              <a:solidFill>
                <a:srgbClr val="31326F"/>
              </a:solidFill>
            </a:endParaRPr>
          </a:p>
        </p:txBody>
      </p:sp>
      <p:pic>
        <p:nvPicPr>
          <p:cNvPr id="3" name="Picture 2" descr="A diagram of a survey data analysis&#10;&#10;AI-generated content may be incorrect.">
            <a:extLst>
              <a:ext uri="{FF2B5EF4-FFF2-40B4-BE49-F238E27FC236}">
                <a16:creationId xmlns:a16="http://schemas.microsoft.com/office/drawing/2014/main" id="{D0B11519-0747-C93D-2229-F150B44B39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4889" y="2271511"/>
            <a:ext cx="8662220" cy="3724275"/>
          </a:xfrm>
          <a:prstGeom prst="rect">
            <a:avLst/>
          </a:prstGeom>
        </p:spPr>
      </p:pic>
    </p:spTree>
    <p:extLst>
      <p:ext uri="{BB962C8B-B14F-4D97-AF65-F5344CB8AC3E}">
        <p14:creationId xmlns:p14="http://schemas.microsoft.com/office/powerpoint/2010/main" val="19069997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D3296-B408-8862-66BF-91030DFE82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CC5FEF-2A4E-9CF6-FF47-B7593E14DE1D}"/>
              </a:ext>
            </a:extLst>
          </p:cNvPr>
          <p:cNvSpPr txBox="1"/>
          <p:nvPr/>
        </p:nvSpPr>
        <p:spPr>
          <a:xfrm>
            <a:off x="2689122" y="-122918"/>
            <a:ext cx="6813755" cy="1138773"/>
          </a:xfrm>
          <a:prstGeom prst="rect">
            <a:avLst/>
          </a:prstGeom>
          <a:noFill/>
        </p:spPr>
        <p:txBody>
          <a:bodyPr wrap="square" rtlCol="0">
            <a:spAutoFit/>
          </a:bodyPr>
          <a:lstStyle/>
          <a:p>
            <a:pPr algn="ctr"/>
            <a:r>
              <a:rPr lang="en-US" sz="6800" b="1" dirty="0">
                <a:solidFill>
                  <a:srgbClr val="31326F"/>
                </a:solidFill>
              </a:rPr>
              <a:t>UML Diagrams</a:t>
            </a:r>
            <a:endParaRPr lang="en-IN" sz="6800" b="1" dirty="0">
              <a:solidFill>
                <a:srgbClr val="31326F"/>
              </a:solidFill>
            </a:endParaRPr>
          </a:p>
        </p:txBody>
      </p:sp>
      <p:sp>
        <p:nvSpPr>
          <p:cNvPr id="3" name="TextBox 2">
            <a:extLst>
              <a:ext uri="{FF2B5EF4-FFF2-40B4-BE49-F238E27FC236}">
                <a16:creationId xmlns:a16="http://schemas.microsoft.com/office/drawing/2014/main" id="{E9254B70-DFE7-ED30-9892-7F97C0BD75A5}"/>
              </a:ext>
            </a:extLst>
          </p:cNvPr>
          <p:cNvSpPr txBox="1"/>
          <p:nvPr/>
        </p:nvSpPr>
        <p:spPr>
          <a:xfrm>
            <a:off x="326820" y="1261688"/>
            <a:ext cx="4303053" cy="553998"/>
          </a:xfrm>
          <a:prstGeom prst="rect">
            <a:avLst/>
          </a:prstGeom>
          <a:noFill/>
        </p:spPr>
        <p:txBody>
          <a:bodyPr wrap="square" rtlCol="0">
            <a:spAutoFit/>
          </a:bodyPr>
          <a:lstStyle/>
          <a:p>
            <a:r>
              <a:rPr lang="en-US" sz="3000" b="1" dirty="0">
                <a:solidFill>
                  <a:srgbClr val="31326F"/>
                </a:solidFill>
              </a:rPr>
              <a:t>3. Class Diagram</a:t>
            </a:r>
            <a:endParaRPr lang="en-IN" sz="3000" b="1" dirty="0">
              <a:solidFill>
                <a:srgbClr val="31326F"/>
              </a:solidFill>
            </a:endParaRPr>
          </a:p>
        </p:txBody>
      </p:sp>
      <p:sp>
        <p:nvSpPr>
          <p:cNvPr id="6" name="Rectangle: Rounded Corners 5">
            <a:extLst>
              <a:ext uri="{FF2B5EF4-FFF2-40B4-BE49-F238E27FC236}">
                <a16:creationId xmlns:a16="http://schemas.microsoft.com/office/drawing/2014/main" id="{697AE821-1409-9D90-6565-921E75BC6A04}"/>
              </a:ext>
            </a:extLst>
          </p:cNvPr>
          <p:cNvSpPr/>
          <p:nvPr/>
        </p:nvSpPr>
        <p:spPr>
          <a:xfrm>
            <a:off x="4109013" y="892940"/>
            <a:ext cx="7875199" cy="5794141"/>
          </a:xfrm>
          <a:prstGeom prst="roundRect">
            <a:avLst>
              <a:gd name="adj" fmla="val 6679"/>
            </a:avLst>
          </a:prstGeom>
          <a:solidFill>
            <a:srgbClr val="31326F"/>
          </a:solidFill>
          <a:ln w="38100">
            <a:solidFill>
              <a:srgbClr val="637A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32" name="Picture 8" descr="PlantUML Diagram">
            <a:extLst>
              <a:ext uri="{FF2B5EF4-FFF2-40B4-BE49-F238E27FC236}">
                <a16:creationId xmlns:a16="http://schemas.microsoft.com/office/drawing/2014/main" id="{D2511C6A-4392-6D65-6B42-607C2B135F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5900" y="929970"/>
            <a:ext cx="5707380" cy="572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08173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4A34D-C04D-F651-11DC-7839A8DEC64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2343F4D-5B97-F18C-F39D-70E4A7514262}"/>
              </a:ext>
            </a:extLst>
          </p:cNvPr>
          <p:cNvSpPr txBox="1"/>
          <p:nvPr/>
        </p:nvSpPr>
        <p:spPr>
          <a:xfrm>
            <a:off x="2689122" y="-122918"/>
            <a:ext cx="6813755" cy="1138773"/>
          </a:xfrm>
          <a:prstGeom prst="rect">
            <a:avLst/>
          </a:prstGeom>
          <a:noFill/>
        </p:spPr>
        <p:txBody>
          <a:bodyPr wrap="square" rtlCol="0">
            <a:spAutoFit/>
          </a:bodyPr>
          <a:lstStyle/>
          <a:p>
            <a:pPr algn="ctr"/>
            <a:r>
              <a:rPr lang="en-US" sz="6800" b="1" dirty="0">
                <a:solidFill>
                  <a:srgbClr val="31326F"/>
                </a:solidFill>
              </a:rPr>
              <a:t>UML Diagrams</a:t>
            </a:r>
            <a:endParaRPr lang="en-IN" sz="6800" b="1" dirty="0">
              <a:solidFill>
                <a:srgbClr val="31326F"/>
              </a:solidFill>
            </a:endParaRPr>
          </a:p>
        </p:txBody>
      </p:sp>
      <p:sp>
        <p:nvSpPr>
          <p:cNvPr id="3" name="TextBox 2">
            <a:extLst>
              <a:ext uri="{FF2B5EF4-FFF2-40B4-BE49-F238E27FC236}">
                <a16:creationId xmlns:a16="http://schemas.microsoft.com/office/drawing/2014/main" id="{084F3871-6073-E5FD-D220-E6C60FE8EECB}"/>
              </a:ext>
            </a:extLst>
          </p:cNvPr>
          <p:cNvSpPr txBox="1"/>
          <p:nvPr/>
        </p:nvSpPr>
        <p:spPr>
          <a:xfrm>
            <a:off x="326820" y="1261688"/>
            <a:ext cx="4303053" cy="553998"/>
          </a:xfrm>
          <a:prstGeom prst="rect">
            <a:avLst/>
          </a:prstGeom>
          <a:noFill/>
        </p:spPr>
        <p:txBody>
          <a:bodyPr wrap="square" rtlCol="0">
            <a:spAutoFit/>
          </a:bodyPr>
          <a:lstStyle/>
          <a:p>
            <a:r>
              <a:rPr lang="en-US" sz="3000" b="1" dirty="0">
                <a:solidFill>
                  <a:srgbClr val="31326F"/>
                </a:solidFill>
              </a:rPr>
              <a:t>4. Activity Diagram</a:t>
            </a:r>
            <a:endParaRPr lang="en-IN" sz="3000" b="1" dirty="0">
              <a:solidFill>
                <a:srgbClr val="31326F"/>
              </a:solidFill>
            </a:endParaRPr>
          </a:p>
        </p:txBody>
      </p:sp>
      <p:sp>
        <p:nvSpPr>
          <p:cNvPr id="6" name="Rectangle: Rounded Corners 5">
            <a:extLst>
              <a:ext uri="{FF2B5EF4-FFF2-40B4-BE49-F238E27FC236}">
                <a16:creationId xmlns:a16="http://schemas.microsoft.com/office/drawing/2014/main" id="{C73C6A25-F5AF-E8C0-A34F-7B47DFCBED36}"/>
              </a:ext>
            </a:extLst>
          </p:cNvPr>
          <p:cNvSpPr/>
          <p:nvPr/>
        </p:nvSpPr>
        <p:spPr>
          <a:xfrm>
            <a:off x="4171633" y="892938"/>
            <a:ext cx="7875199" cy="5794141"/>
          </a:xfrm>
          <a:prstGeom prst="roundRect">
            <a:avLst>
              <a:gd name="adj" fmla="val 6679"/>
            </a:avLst>
          </a:prstGeom>
          <a:solidFill>
            <a:srgbClr val="31326F"/>
          </a:solidFill>
          <a:ln w="38100">
            <a:solidFill>
              <a:srgbClr val="637A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2B418DA9-96EA-2AFA-D2CC-DD1D2BD9FB45}"/>
              </a:ext>
            </a:extLst>
          </p:cNvPr>
          <p:cNvSpPr/>
          <p:nvPr/>
        </p:nvSpPr>
        <p:spPr>
          <a:xfrm>
            <a:off x="5063490" y="3539490"/>
            <a:ext cx="190500" cy="99060"/>
          </a:xfrm>
          <a:prstGeom prst="rect">
            <a:avLst/>
          </a:prstGeom>
          <a:solidFill>
            <a:srgbClr val="A8F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1B5F1E30-5BE9-D8A4-D1EF-781957454408}"/>
              </a:ext>
            </a:extLst>
          </p:cNvPr>
          <p:cNvSpPr/>
          <p:nvPr/>
        </p:nvSpPr>
        <p:spPr>
          <a:xfrm>
            <a:off x="5471160" y="3314700"/>
            <a:ext cx="190500" cy="99060"/>
          </a:xfrm>
          <a:prstGeom prst="rect">
            <a:avLst/>
          </a:prstGeom>
          <a:solidFill>
            <a:srgbClr val="A8F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B512D625-6B1C-82A6-B9EA-9E27160B767D}"/>
              </a:ext>
            </a:extLst>
          </p:cNvPr>
          <p:cNvSpPr/>
          <p:nvPr/>
        </p:nvSpPr>
        <p:spPr>
          <a:xfrm>
            <a:off x="7989221" y="3539490"/>
            <a:ext cx="190500" cy="99060"/>
          </a:xfrm>
          <a:prstGeom prst="rect">
            <a:avLst/>
          </a:prstGeom>
          <a:solidFill>
            <a:srgbClr val="A8F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14A683D2-FDC5-6749-2C07-4057218D46EC}"/>
              </a:ext>
            </a:extLst>
          </p:cNvPr>
          <p:cNvSpPr/>
          <p:nvPr/>
        </p:nvSpPr>
        <p:spPr>
          <a:xfrm>
            <a:off x="8412480" y="3356610"/>
            <a:ext cx="140970" cy="57150"/>
          </a:xfrm>
          <a:prstGeom prst="rect">
            <a:avLst/>
          </a:prstGeom>
          <a:solidFill>
            <a:srgbClr val="A8F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993FF23F-D270-2383-D316-B0909B988027}"/>
              </a:ext>
            </a:extLst>
          </p:cNvPr>
          <p:cNvSpPr/>
          <p:nvPr/>
        </p:nvSpPr>
        <p:spPr>
          <a:xfrm>
            <a:off x="10828019" y="3539490"/>
            <a:ext cx="211455" cy="53340"/>
          </a:xfrm>
          <a:prstGeom prst="rect">
            <a:avLst/>
          </a:prstGeom>
          <a:solidFill>
            <a:srgbClr val="A8F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1E608F98-C1A0-5DD0-0378-E2DA9C777A54}"/>
              </a:ext>
            </a:extLst>
          </p:cNvPr>
          <p:cNvSpPr/>
          <p:nvPr/>
        </p:nvSpPr>
        <p:spPr>
          <a:xfrm>
            <a:off x="11252835" y="3335655"/>
            <a:ext cx="140970" cy="57150"/>
          </a:xfrm>
          <a:prstGeom prst="rect">
            <a:avLst/>
          </a:prstGeom>
          <a:solidFill>
            <a:srgbClr val="A8F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1619E9AC-E3A6-3637-2382-2B762C006436}"/>
              </a:ext>
            </a:extLst>
          </p:cNvPr>
          <p:cNvSpPr/>
          <p:nvPr/>
        </p:nvSpPr>
        <p:spPr>
          <a:xfrm>
            <a:off x="8341995" y="1867535"/>
            <a:ext cx="140970" cy="57150"/>
          </a:xfrm>
          <a:prstGeom prst="rect">
            <a:avLst/>
          </a:prstGeom>
          <a:solidFill>
            <a:srgbClr val="A8F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763ED638-3437-40C9-1D6E-6F56325B2B98}"/>
              </a:ext>
            </a:extLst>
          </p:cNvPr>
          <p:cNvSpPr/>
          <p:nvPr/>
        </p:nvSpPr>
        <p:spPr>
          <a:xfrm>
            <a:off x="7918734" y="2060574"/>
            <a:ext cx="190499" cy="67945"/>
          </a:xfrm>
          <a:prstGeom prst="rect">
            <a:avLst/>
          </a:prstGeom>
          <a:solidFill>
            <a:srgbClr val="A8F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B7DCC9C0-2CF7-3F43-4FB4-15DB50BAAE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5230" y="1015855"/>
            <a:ext cx="7608982" cy="5548309"/>
          </a:xfrm>
          <a:prstGeom prst="rect">
            <a:avLst/>
          </a:prstGeom>
        </p:spPr>
      </p:pic>
    </p:spTree>
    <p:extLst>
      <p:ext uri="{BB962C8B-B14F-4D97-AF65-F5344CB8AC3E}">
        <p14:creationId xmlns:p14="http://schemas.microsoft.com/office/powerpoint/2010/main" val="3340235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6099B-5617-CAF7-AF53-254C7B267A5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ECFED56-FF45-FABF-D0D9-C350099EAF18}"/>
              </a:ext>
            </a:extLst>
          </p:cNvPr>
          <p:cNvSpPr txBox="1"/>
          <p:nvPr/>
        </p:nvSpPr>
        <p:spPr>
          <a:xfrm>
            <a:off x="2689122" y="-73757"/>
            <a:ext cx="6813755" cy="1138773"/>
          </a:xfrm>
          <a:prstGeom prst="rect">
            <a:avLst/>
          </a:prstGeom>
          <a:noFill/>
        </p:spPr>
        <p:txBody>
          <a:bodyPr wrap="square" rtlCol="0">
            <a:spAutoFit/>
          </a:bodyPr>
          <a:lstStyle/>
          <a:p>
            <a:pPr algn="ctr"/>
            <a:r>
              <a:rPr lang="en-US" sz="6800" b="1" dirty="0">
                <a:solidFill>
                  <a:srgbClr val="31326F"/>
                </a:solidFill>
              </a:rPr>
              <a:t>UML Diagrams</a:t>
            </a:r>
            <a:endParaRPr lang="en-IN" sz="6800" b="1" dirty="0">
              <a:solidFill>
                <a:srgbClr val="31326F"/>
              </a:solidFill>
            </a:endParaRPr>
          </a:p>
        </p:txBody>
      </p:sp>
      <p:sp>
        <p:nvSpPr>
          <p:cNvPr id="6" name="Rectangle: Rounded Corners 5">
            <a:extLst>
              <a:ext uri="{FF2B5EF4-FFF2-40B4-BE49-F238E27FC236}">
                <a16:creationId xmlns:a16="http://schemas.microsoft.com/office/drawing/2014/main" id="{6938E181-2465-E72C-1A70-C82C07AD71D7}"/>
              </a:ext>
            </a:extLst>
          </p:cNvPr>
          <p:cNvSpPr/>
          <p:nvPr/>
        </p:nvSpPr>
        <p:spPr>
          <a:xfrm>
            <a:off x="257373" y="1676790"/>
            <a:ext cx="11726840" cy="5010291"/>
          </a:xfrm>
          <a:prstGeom prst="roundRect">
            <a:avLst>
              <a:gd name="adj" fmla="val 6679"/>
            </a:avLst>
          </a:prstGeom>
          <a:solidFill>
            <a:srgbClr val="31326F"/>
          </a:solidFill>
          <a:ln w="38100">
            <a:solidFill>
              <a:srgbClr val="637A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descr="A screenshot of a computer&#10;&#10;AI-generated content may be incorrect.">
            <a:extLst>
              <a:ext uri="{FF2B5EF4-FFF2-40B4-BE49-F238E27FC236}">
                <a16:creationId xmlns:a16="http://schemas.microsoft.com/office/drawing/2014/main" id="{20C28CD7-03F3-845F-8A2C-18F4A4692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2199" y="1777623"/>
            <a:ext cx="8957187" cy="4808623"/>
          </a:xfrm>
          <a:prstGeom prst="rect">
            <a:avLst/>
          </a:prstGeom>
        </p:spPr>
      </p:pic>
      <p:sp>
        <p:nvSpPr>
          <p:cNvPr id="10" name="TextBox 9">
            <a:extLst>
              <a:ext uri="{FF2B5EF4-FFF2-40B4-BE49-F238E27FC236}">
                <a16:creationId xmlns:a16="http://schemas.microsoft.com/office/drawing/2014/main" id="{C0AF92DB-719F-F490-CB38-A94B71DBC73C}"/>
              </a:ext>
            </a:extLst>
          </p:cNvPr>
          <p:cNvSpPr txBox="1"/>
          <p:nvPr/>
        </p:nvSpPr>
        <p:spPr>
          <a:xfrm>
            <a:off x="257373" y="899342"/>
            <a:ext cx="5338916" cy="553998"/>
          </a:xfrm>
          <a:prstGeom prst="rect">
            <a:avLst/>
          </a:prstGeom>
          <a:noFill/>
        </p:spPr>
        <p:txBody>
          <a:bodyPr wrap="square" rtlCol="0">
            <a:spAutoFit/>
          </a:bodyPr>
          <a:lstStyle/>
          <a:p>
            <a:r>
              <a:rPr lang="en-US" sz="3000" b="1" dirty="0">
                <a:solidFill>
                  <a:srgbClr val="31326F"/>
                </a:solidFill>
              </a:rPr>
              <a:t>5. Sequence Diagram</a:t>
            </a:r>
            <a:endParaRPr lang="en-IN" sz="3000" b="1" dirty="0">
              <a:solidFill>
                <a:srgbClr val="31326F"/>
              </a:solidFill>
            </a:endParaRPr>
          </a:p>
        </p:txBody>
      </p:sp>
    </p:spTree>
    <p:extLst>
      <p:ext uri="{BB962C8B-B14F-4D97-AF65-F5344CB8AC3E}">
        <p14:creationId xmlns:p14="http://schemas.microsoft.com/office/powerpoint/2010/main" val="16015615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F7066-5405-FA97-06C4-78CAD01E255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C909E7-7699-825A-E807-DF3ADD881FFC}"/>
              </a:ext>
            </a:extLst>
          </p:cNvPr>
          <p:cNvSpPr txBox="1"/>
          <p:nvPr/>
        </p:nvSpPr>
        <p:spPr>
          <a:xfrm>
            <a:off x="2689122" y="-122918"/>
            <a:ext cx="6813755" cy="1138773"/>
          </a:xfrm>
          <a:prstGeom prst="rect">
            <a:avLst/>
          </a:prstGeom>
          <a:noFill/>
        </p:spPr>
        <p:txBody>
          <a:bodyPr wrap="square" rtlCol="0">
            <a:spAutoFit/>
          </a:bodyPr>
          <a:lstStyle/>
          <a:p>
            <a:pPr algn="ctr"/>
            <a:r>
              <a:rPr lang="en-US" sz="6800" b="1" dirty="0">
                <a:solidFill>
                  <a:srgbClr val="31326F"/>
                </a:solidFill>
              </a:rPr>
              <a:t>UML Diagrams</a:t>
            </a:r>
            <a:endParaRPr lang="en-IN" sz="6800" b="1" dirty="0">
              <a:solidFill>
                <a:srgbClr val="31326F"/>
              </a:solidFill>
            </a:endParaRPr>
          </a:p>
        </p:txBody>
      </p:sp>
      <p:sp>
        <p:nvSpPr>
          <p:cNvPr id="5" name="Rectangle: Rounded Corners 4">
            <a:extLst>
              <a:ext uri="{FF2B5EF4-FFF2-40B4-BE49-F238E27FC236}">
                <a16:creationId xmlns:a16="http://schemas.microsoft.com/office/drawing/2014/main" id="{525FC87C-8FE5-6458-7ED3-ACFE32D946C0}"/>
              </a:ext>
            </a:extLst>
          </p:cNvPr>
          <p:cNvSpPr/>
          <p:nvPr/>
        </p:nvSpPr>
        <p:spPr>
          <a:xfrm>
            <a:off x="257373" y="1676790"/>
            <a:ext cx="11726840" cy="5010291"/>
          </a:xfrm>
          <a:prstGeom prst="roundRect">
            <a:avLst>
              <a:gd name="adj" fmla="val 6679"/>
            </a:avLst>
          </a:prstGeom>
          <a:solidFill>
            <a:srgbClr val="31326F"/>
          </a:solidFill>
          <a:ln w="38100">
            <a:solidFill>
              <a:srgbClr val="637A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8007D764-CEE6-3F27-5528-D88E31D06AB8}"/>
              </a:ext>
            </a:extLst>
          </p:cNvPr>
          <p:cNvSpPr txBox="1"/>
          <p:nvPr/>
        </p:nvSpPr>
        <p:spPr>
          <a:xfrm>
            <a:off x="257373" y="1015855"/>
            <a:ext cx="4488247" cy="553998"/>
          </a:xfrm>
          <a:prstGeom prst="rect">
            <a:avLst/>
          </a:prstGeom>
          <a:noFill/>
        </p:spPr>
        <p:txBody>
          <a:bodyPr wrap="square" rtlCol="0">
            <a:spAutoFit/>
          </a:bodyPr>
          <a:lstStyle/>
          <a:p>
            <a:r>
              <a:rPr lang="en-US" sz="3000" b="1" dirty="0">
                <a:solidFill>
                  <a:srgbClr val="31326F"/>
                </a:solidFill>
              </a:rPr>
              <a:t>6</a:t>
            </a:r>
            <a:r>
              <a:rPr lang="en-US" sz="3000" b="1">
                <a:solidFill>
                  <a:srgbClr val="31326F"/>
                </a:solidFill>
              </a:rPr>
              <a:t>. </a:t>
            </a:r>
            <a:r>
              <a:rPr lang="en-US" sz="3000" b="1" dirty="0">
                <a:solidFill>
                  <a:srgbClr val="31326F"/>
                </a:solidFill>
              </a:rPr>
              <a:t>Deployment Diagram</a:t>
            </a:r>
            <a:endParaRPr lang="en-IN" sz="3000" b="1" dirty="0">
              <a:solidFill>
                <a:srgbClr val="31326F"/>
              </a:solidFill>
            </a:endParaRPr>
          </a:p>
        </p:txBody>
      </p:sp>
      <p:pic>
        <p:nvPicPr>
          <p:cNvPr id="4" name="Picture 3" descr="A screenshot of a computer&#10;&#10;AI-generated content may be incorrect.">
            <a:extLst>
              <a:ext uri="{FF2B5EF4-FFF2-40B4-BE49-F238E27FC236}">
                <a16:creationId xmlns:a16="http://schemas.microsoft.com/office/drawing/2014/main" id="{41AF089D-3421-DB48-8A6A-AAEED9B6B3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6942" y="1877921"/>
            <a:ext cx="5491317" cy="4328538"/>
          </a:xfrm>
          <a:prstGeom prst="rect">
            <a:avLst/>
          </a:prstGeom>
        </p:spPr>
      </p:pic>
    </p:spTree>
    <p:extLst>
      <p:ext uri="{BB962C8B-B14F-4D97-AF65-F5344CB8AC3E}">
        <p14:creationId xmlns:p14="http://schemas.microsoft.com/office/powerpoint/2010/main" val="16458301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816C7-B048-8707-1E01-B8FC58DECA35}"/>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C609A8AC-0D94-7015-5871-7EFCAF58474E}"/>
              </a:ext>
            </a:extLst>
          </p:cNvPr>
          <p:cNvSpPr/>
          <p:nvPr/>
        </p:nvSpPr>
        <p:spPr>
          <a:xfrm>
            <a:off x="6331974" y="1230619"/>
            <a:ext cx="5438878" cy="5288168"/>
          </a:xfrm>
          <a:prstGeom prst="roundRect">
            <a:avLst/>
          </a:prstGeom>
          <a:solidFill>
            <a:srgbClr val="31326F"/>
          </a:solidFill>
          <a:ln w="38100">
            <a:solidFill>
              <a:srgbClr val="637A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descr="A diagram of a diagram&#10;&#10;AI-generated content may be incorrect.">
            <a:extLst>
              <a:ext uri="{FF2B5EF4-FFF2-40B4-BE49-F238E27FC236}">
                <a16:creationId xmlns:a16="http://schemas.microsoft.com/office/drawing/2014/main" id="{C63EA307-C865-E2B5-C5C3-AA91E2C342DA}"/>
              </a:ext>
            </a:extLst>
          </p:cNvPr>
          <p:cNvPicPr>
            <a:picLocks noChangeAspect="1"/>
          </p:cNvPicPr>
          <p:nvPr/>
        </p:nvPicPr>
        <p:blipFill>
          <a:blip r:embed="rId2"/>
          <a:stretch>
            <a:fillRect/>
          </a:stretch>
        </p:blipFill>
        <p:spPr>
          <a:xfrm>
            <a:off x="6680364" y="1230618"/>
            <a:ext cx="4744720" cy="5299297"/>
          </a:xfrm>
          <a:prstGeom prst="rect">
            <a:avLst/>
          </a:prstGeom>
        </p:spPr>
      </p:pic>
      <p:sp>
        <p:nvSpPr>
          <p:cNvPr id="6" name="TextBox 5">
            <a:extLst>
              <a:ext uri="{FF2B5EF4-FFF2-40B4-BE49-F238E27FC236}">
                <a16:creationId xmlns:a16="http://schemas.microsoft.com/office/drawing/2014/main" id="{89FEF6FD-FCF0-DD26-8B61-B0858AE82874}"/>
              </a:ext>
            </a:extLst>
          </p:cNvPr>
          <p:cNvSpPr txBox="1"/>
          <p:nvPr/>
        </p:nvSpPr>
        <p:spPr>
          <a:xfrm>
            <a:off x="253999" y="1410360"/>
            <a:ext cx="5438878" cy="3647152"/>
          </a:xfrm>
          <a:prstGeom prst="rect">
            <a:avLst/>
          </a:prstGeom>
          <a:noFill/>
        </p:spPr>
        <p:txBody>
          <a:bodyPr wrap="square" rtlCol="0">
            <a:spAutoFit/>
          </a:bodyPr>
          <a:lstStyle/>
          <a:p>
            <a:pPr marL="285750" indent="-285750">
              <a:buFont typeface="Wingdings" panose="05000000000000000000" pitchFamily="2" charset="2"/>
              <a:buChar char="q"/>
            </a:pPr>
            <a:r>
              <a:rPr lang="en-US" sz="2100" b="1" dirty="0">
                <a:solidFill>
                  <a:srgbClr val="31326F"/>
                </a:solidFill>
              </a:rPr>
              <a:t>Integration with HR management systems for real-time analysis.</a:t>
            </a:r>
          </a:p>
          <a:p>
            <a:pPr marL="285750" indent="-285750">
              <a:buFont typeface="Wingdings" panose="05000000000000000000" pitchFamily="2" charset="2"/>
              <a:buChar char="q"/>
            </a:pPr>
            <a:r>
              <a:rPr lang="en-US" sz="2100" b="1" dirty="0">
                <a:solidFill>
                  <a:srgbClr val="31326F"/>
                </a:solidFill>
              </a:rPr>
              <a:t>Development of interactive dashboards for continuous monitoring.</a:t>
            </a:r>
          </a:p>
          <a:p>
            <a:pPr marL="285750" indent="-285750">
              <a:buFont typeface="Wingdings" panose="05000000000000000000" pitchFamily="2" charset="2"/>
              <a:buChar char="q"/>
            </a:pPr>
            <a:r>
              <a:rPr lang="en-US" sz="2100" b="1" dirty="0">
                <a:solidFill>
                  <a:srgbClr val="31326F"/>
                </a:solidFill>
              </a:rPr>
              <a:t>Addition of automated report generation features.</a:t>
            </a:r>
          </a:p>
          <a:p>
            <a:pPr marL="285750" indent="-285750">
              <a:buFont typeface="Wingdings" panose="05000000000000000000" pitchFamily="2" charset="2"/>
              <a:buChar char="q"/>
            </a:pPr>
            <a:r>
              <a:rPr lang="en-US" sz="2100" b="1" dirty="0">
                <a:solidFill>
                  <a:srgbClr val="31326F"/>
                </a:solidFill>
              </a:rPr>
              <a:t>Expansion to include feedback prediction and trend comparison over time.</a:t>
            </a:r>
          </a:p>
          <a:p>
            <a:pPr marL="285750" indent="-285750">
              <a:buFont typeface="Wingdings" panose="05000000000000000000" pitchFamily="2" charset="2"/>
              <a:buChar char="q"/>
            </a:pPr>
            <a:r>
              <a:rPr lang="en-US" sz="2100" b="1" dirty="0">
                <a:solidFill>
                  <a:srgbClr val="31326F"/>
                </a:solidFill>
              </a:rPr>
              <a:t>Implementation of cloud-based data storage for easy access and scalability.</a:t>
            </a:r>
            <a:endParaRPr lang="en-IN" sz="2100" b="1" dirty="0">
              <a:solidFill>
                <a:srgbClr val="31326F"/>
              </a:solidFill>
            </a:endParaRPr>
          </a:p>
        </p:txBody>
      </p:sp>
      <p:sp>
        <p:nvSpPr>
          <p:cNvPr id="7" name="TextBox 6">
            <a:extLst>
              <a:ext uri="{FF2B5EF4-FFF2-40B4-BE49-F238E27FC236}">
                <a16:creationId xmlns:a16="http://schemas.microsoft.com/office/drawing/2014/main" id="{8362EF1E-EBF5-CB60-9ED8-881E93050C7E}"/>
              </a:ext>
            </a:extLst>
          </p:cNvPr>
          <p:cNvSpPr txBox="1"/>
          <p:nvPr/>
        </p:nvSpPr>
        <p:spPr>
          <a:xfrm>
            <a:off x="2290916" y="30290"/>
            <a:ext cx="7610168" cy="1200329"/>
          </a:xfrm>
          <a:prstGeom prst="rect">
            <a:avLst/>
          </a:prstGeom>
          <a:noFill/>
        </p:spPr>
        <p:txBody>
          <a:bodyPr wrap="square" rtlCol="0">
            <a:spAutoFit/>
          </a:bodyPr>
          <a:lstStyle/>
          <a:p>
            <a:pPr algn="ctr"/>
            <a:r>
              <a:rPr lang="en-US" sz="7200" b="1" dirty="0">
                <a:solidFill>
                  <a:srgbClr val="31326F"/>
                </a:solidFill>
              </a:rPr>
              <a:t>Future Scope</a:t>
            </a:r>
            <a:endParaRPr lang="en-IN" sz="7200" b="1" dirty="0">
              <a:solidFill>
                <a:srgbClr val="31326F"/>
              </a:solidFill>
            </a:endParaRPr>
          </a:p>
        </p:txBody>
      </p:sp>
    </p:spTree>
    <p:extLst>
      <p:ext uri="{BB962C8B-B14F-4D97-AF65-F5344CB8AC3E}">
        <p14:creationId xmlns:p14="http://schemas.microsoft.com/office/powerpoint/2010/main" val="15901189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E089A-9F3C-8840-11C9-BB0EBCD44C19}"/>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716998A-613B-0BD3-54F8-48F7E0C01B90}"/>
              </a:ext>
            </a:extLst>
          </p:cNvPr>
          <p:cNvSpPr/>
          <p:nvPr/>
        </p:nvSpPr>
        <p:spPr>
          <a:xfrm>
            <a:off x="452284" y="3210559"/>
            <a:ext cx="11318568" cy="3308227"/>
          </a:xfrm>
          <a:prstGeom prst="roundRect">
            <a:avLst/>
          </a:prstGeom>
          <a:solidFill>
            <a:srgbClr val="31326F"/>
          </a:solidFill>
          <a:ln w="38100">
            <a:solidFill>
              <a:srgbClr val="637A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1AB763F0-A38A-B93E-F174-59314F7E427D}"/>
              </a:ext>
            </a:extLst>
          </p:cNvPr>
          <p:cNvSpPr txBox="1"/>
          <p:nvPr/>
        </p:nvSpPr>
        <p:spPr>
          <a:xfrm>
            <a:off x="1337187" y="30290"/>
            <a:ext cx="9517626" cy="1200329"/>
          </a:xfrm>
          <a:prstGeom prst="rect">
            <a:avLst/>
          </a:prstGeom>
          <a:noFill/>
        </p:spPr>
        <p:txBody>
          <a:bodyPr wrap="square" rtlCol="0">
            <a:spAutoFit/>
          </a:bodyPr>
          <a:lstStyle/>
          <a:p>
            <a:pPr algn="ctr"/>
            <a:r>
              <a:rPr lang="en-US" sz="7200" b="1" dirty="0">
                <a:solidFill>
                  <a:srgbClr val="31326F"/>
                </a:solidFill>
              </a:rPr>
              <a:t>Expected Outcome</a:t>
            </a:r>
            <a:endParaRPr lang="en-IN" sz="7200" b="1" dirty="0">
              <a:solidFill>
                <a:srgbClr val="31326F"/>
              </a:solidFill>
            </a:endParaRPr>
          </a:p>
        </p:txBody>
      </p:sp>
      <p:pic>
        <p:nvPicPr>
          <p:cNvPr id="3" name="Picture 2" descr="A screenshot of a computer&#10;&#10;AI-generated content may be incorrect.">
            <a:extLst>
              <a:ext uri="{FF2B5EF4-FFF2-40B4-BE49-F238E27FC236}">
                <a16:creationId xmlns:a16="http://schemas.microsoft.com/office/drawing/2014/main" id="{6A63E38A-16B7-63C4-D79D-A97B21D6B2B3}"/>
              </a:ext>
            </a:extLst>
          </p:cNvPr>
          <p:cNvPicPr>
            <a:picLocks noChangeAspect="1"/>
          </p:cNvPicPr>
          <p:nvPr/>
        </p:nvPicPr>
        <p:blipFill>
          <a:blip r:embed="rId2"/>
          <a:stretch>
            <a:fillRect/>
          </a:stretch>
        </p:blipFill>
        <p:spPr>
          <a:xfrm>
            <a:off x="1809750" y="2817997"/>
            <a:ext cx="8572500" cy="3895725"/>
          </a:xfrm>
          <a:prstGeom prst="rect">
            <a:avLst/>
          </a:prstGeom>
        </p:spPr>
      </p:pic>
      <p:sp>
        <p:nvSpPr>
          <p:cNvPr id="4" name="TextBox 3">
            <a:extLst>
              <a:ext uri="{FF2B5EF4-FFF2-40B4-BE49-F238E27FC236}">
                <a16:creationId xmlns:a16="http://schemas.microsoft.com/office/drawing/2014/main" id="{81ECEC7D-9C7E-709A-FE4A-4B11735EBB91}"/>
              </a:ext>
            </a:extLst>
          </p:cNvPr>
          <p:cNvSpPr txBox="1"/>
          <p:nvPr/>
        </p:nvSpPr>
        <p:spPr>
          <a:xfrm>
            <a:off x="469818" y="1371600"/>
            <a:ext cx="8204364" cy="183896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87505968-57A9-0D2A-69CD-8A97E7E69B90}"/>
              </a:ext>
            </a:extLst>
          </p:cNvPr>
          <p:cNvSpPr txBox="1"/>
          <p:nvPr/>
        </p:nvSpPr>
        <p:spPr>
          <a:xfrm>
            <a:off x="366983" y="1118859"/>
            <a:ext cx="11117094" cy="1631216"/>
          </a:xfrm>
          <a:prstGeom prst="rect">
            <a:avLst/>
          </a:prstGeom>
          <a:noFill/>
        </p:spPr>
        <p:txBody>
          <a:bodyPr wrap="square" rtlCol="0">
            <a:spAutoFit/>
          </a:bodyPr>
          <a:lstStyle/>
          <a:p>
            <a:pPr marL="285750" indent="-285750">
              <a:buFont typeface="Wingdings" panose="05000000000000000000" pitchFamily="2" charset="2"/>
              <a:buChar char="Ø"/>
            </a:pPr>
            <a:r>
              <a:rPr lang="en-US" sz="2500" dirty="0">
                <a:solidFill>
                  <a:srgbClr val="31326F"/>
                </a:solidFill>
              </a:rPr>
              <a:t>A clear summary of employee satisfaction levels.</a:t>
            </a:r>
          </a:p>
          <a:p>
            <a:pPr marL="285750" indent="-285750">
              <a:buFont typeface="Wingdings" panose="05000000000000000000" pitchFamily="2" charset="2"/>
              <a:buChar char="Ø"/>
            </a:pPr>
            <a:r>
              <a:rPr lang="en-US" sz="2500" dirty="0">
                <a:solidFill>
                  <a:srgbClr val="31326F"/>
                </a:solidFill>
              </a:rPr>
              <a:t>Visual charts showing trends and key factors affecting satisfaction.</a:t>
            </a:r>
          </a:p>
          <a:p>
            <a:pPr marL="285750" indent="-285750">
              <a:buFont typeface="Wingdings" panose="05000000000000000000" pitchFamily="2" charset="2"/>
              <a:buChar char="Ø"/>
            </a:pPr>
            <a:r>
              <a:rPr lang="en-US" sz="2500" dirty="0">
                <a:solidFill>
                  <a:srgbClr val="31326F"/>
                </a:solidFill>
              </a:rPr>
              <a:t>Insights to help management identify improvement areas.</a:t>
            </a:r>
          </a:p>
          <a:p>
            <a:pPr marL="285750" indent="-285750">
              <a:buFont typeface="Wingdings" panose="05000000000000000000" pitchFamily="2" charset="2"/>
              <a:buChar char="Ø"/>
            </a:pPr>
            <a:r>
              <a:rPr lang="en-US" sz="2500" dirty="0">
                <a:solidFill>
                  <a:srgbClr val="31326F"/>
                </a:solidFill>
              </a:rPr>
              <a:t>A concise analytical report generated through EDA.</a:t>
            </a:r>
            <a:endParaRPr lang="en-IN" sz="2500" dirty="0">
              <a:solidFill>
                <a:srgbClr val="31326F"/>
              </a:solidFill>
            </a:endParaRPr>
          </a:p>
        </p:txBody>
      </p:sp>
    </p:spTree>
    <p:extLst>
      <p:ext uri="{BB962C8B-B14F-4D97-AF65-F5344CB8AC3E}">
        <p14:creationId xmlns:p14="http://schemas.microsoft.com/office/powerpoint/2010/main" val="28388284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886C9-314C-BCFA-EA69-FFBD971C2B74}"/>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4909859-FDB4-4648-7DC9-470D5C54A2C9}"/>
              </a:ext>
            </a:extLst>
          </p:cNvPr>
          <p:cNvPicPr>
            <a:picLocks noChangeAspect="1"/>
          </p:cNvPicPr>
          <p:nvPr/>
        </p:nvPicPr>
        <p:blipFill>
          <a:blip r:embed="rId2"/>
          <a:stretch>
            <a:fillRect/>
          </a:stretch>
        </p:blipFill>
        <p:spPr>
          <a:xfrm>
            <a:off x="1309019" y="1313733"/>
            <a:ext cx="9573961" cy="5087060"/>
          </a:xfrm>
          <a:prstGeom prst="rect">
            <a:avLst/>
          </a:prstGeom>
        </p:spPr>
      </p:pic>
      <p:sp>
        <p:nvSpPr>
          <p:cNvPr id="9" name="TextBox 8">
            <a:extLst>
              <a:ext uri="{FF2B5EF4-FFF2-40B4-BE49-F238E27FC236}">
                <a16:creationId xmlns:a16="http://schemas.microsoft.com/office/drawing/2014/main" id="{72AB8785-8483-172D-3EA9-2740170E4909}"/>
              </a:ext>
            </a:extLst>
          </p:cNvPr>
          <p:cNvSpPr txBox="1"/>
          <p:nvPr/>
        </p:nvSpPr>
        <p:spPr>
          <a:xfrm>
            <a:off x="1541361" y="113404"/>
            <a:ext cx="9109276" cy="1200329"/>
          </a:xfrm>
          <a:prstGeom prst="rect">
            <a:avLst/>
          </a:prstGeom>
          <a:noFill/>
        </p:spPr>
        <p:txBody>
          <a:bodyPr wrap="square" rtlCol="0">
            <a:spAutoFit/>
          </a:bodyPr>
          <a:lstStyle/>
          <a:p>
            <a:r>
              <a:rPr lang="en-US" sz="7200" b="1" dirty="0">
                <a:solidFill>
                  <a:srgbClr val="31326F"/>
                </a:solidFill>
              </a:rPr>
              <a:t>Project Overview</a:t>
            </a:r>
            <a:endParaRPr lang="en-IN" sz="7200" b="1" dirty="0">
              <a:solidFill>
                <a:srgbClr val="31326F"/>
              </a:solidFill>
            </a:endParaRPr>
          </a:p>
        </p:txBody>
      </p:sp>
    </p:spTree>
    <p:extLst>
      <p:ext uri="{BB962C8B-B14F-4D97-AF65-F5344CB8AC3E}">
        <p14:creationId xmlns:p14="http://schemas.microsoft.com/office/powerpoint/2010/main" val="11367891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3517B-F432-F5D4-2454-14130A18936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7B4A79-03A2-0A9D-6CAD-761E93096D4A}"/>
              </a:ext>
            </a:extLst>
          </p:cNvPr>
          <p:cNvSpPr txBox="1"/>
          <p:nvPr/>
        </p:nvSpPr>
        <p:spPr>
          <a:xfrm>
            <a:off x="2689123" y="0"/>
            <a:ext cx="6813755" cy="1200329"/>
          </a:xfrm>
          <a:prstGeom prst="rect">
            <a:avLst/>
          </a:prstGeom>
          <a:noFill/>
        </p:spPr>
        <p:txBody>
          <a:bodyPr wrap="square" rtlCol="0">
            <a:spAutoFit/>
          </a:bodyPr>
          <a:lstStyle/>
          <a:p>
            <a:pPr algn="ctr"/>
            <a:r>
              <a:rPr lang="en-US" sz="7200" b="1" dirty="0">
                <a:solidFill>
                  <a:srgbClr val="31326F"/>
                </a:solidFill>
              </a:rPr>
              <a:t>Conclusion</a:t>
            </a:r>
            <a:endParaRPr lang="en-IN" sz="7200" b="1" dirty="0">
              <a:solidFill>
                <a:srgbClr val="31326F"/>
              </a:solidFill>
            </a:endParaRPr>
          </a:p>
        </p:txBody>
      </p:sp>
      <p:sp>
        <p:nvSpPr>
          <p:cNvPr id="3" name="TextBox 2">
            <a:extLst>
              <a:ext uri="{FF2B5EF4-FFF2-40B4-BE49-F238E27FC236}">
                <a16:creationId xmlns:a16="http://schemas.microsoft.com/office/drawing/2014/main" id="{0D93AC49-FEDE-891C-0751-57048C9872BA}"/>
              </a:ext>
            </a:extLst>
          </p:cNvPr>
          <p:cNvSpPr txBox="1"/>
          <p:nvPr/>
        </p:nvSpPr>
        <p:spPr>
          <a:xfrm>
            <a:off x="508000" y="1422400"/>
            <a:ext cx="11015406" cy="2123658"/>
          </a:xfrm>
          <a:prstGeom prst="rect">
            <a:avLst/>
          </a:prstGeom>
          <a:noFill/>
        </p:spPr>
        <p:txBody>
          <a:bodyPr wrap="square" rtlCol="0">
            <a:spAutoFit/>
          </a:bodyPr>
          <a:lstStyle/>
          <a:p>
            <a:r>
              <a:rPr lang="en-US" sz="2200" dirty="0">
                <a:solidFill>
                  <a:srgbClr val="31326F"/>
                </a:solidFill>
              </a:rPr>
              <a:t>This project focuses on analyzing employee survey data through exploratory data analysis (EDA) to uncover meaningful insights. It helps identify factors influencing employee satisfaction and highlights areas that need improvement. The findings from this analysis can assist organizations in enhancing workplace culture, boosting employee engagement, and supporting data-driven decision-making.</a:t>
            </a:r>
          </a:p>
          <a:p>
            <a:endParaRPr lang="en-IN" sz="2200" dirty="0">
              <a:solidFill>
                <a:srgbClr val="31326F"/>
              </a:solidFill>
            </a:endParaRPr>
          </a:p>
        </p:txBody>
      </p:sp>
    </p:spTree>
    <p:extLst>
      <p:ext uri="{BB962C8B-B14F-4D97-AF65-F5344CB8AC3E}">
        <p14:creationId xmlns:p14="http://schemas.microsoft.com/office/powerpoint/2010/main" val="10044682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295</TotalTime>
  <Words>518</Words>
  <Application>Microsoft Office PowerPoint</Application>
  <PresentationFormat>Widescreen</PresentationFormat>
  <Paragraphs>75</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  Nimmalwar</dc:creator>
  <cp:lastModifiedBy>Om  Nimmalwar</cp:lastModifiedBy>
  <cp:revision>5</cp:revision>
  <dcterms:created xsi:type="dcterms:W3CDTF">2025-10-31T16:51:49Z</dcterms:created>
  <dcterms:modified xsi:type="dcterms:W3CDTF">2025-11-08T05:18:42Z</dcterms:modified>
</cp:coreProperties>
</file>