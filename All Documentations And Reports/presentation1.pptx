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8" r:id="rId2"/>
    <p:sldId id="271" r:id="rId3"/>
    <p:sldId id="269" r:id="rId4"/>
    <p:sldId id="270" r:id="rId5"/>
    <p:sldId id="257" r:id="rId6"/>
    <p:sldId id="266" r:id="rId7"/>
    <p:sldId id="260" r:id="rId8"/>
    <p:sldId id="258" r:id="rId9"/>
    <p:sldId id="259" r:id="rId10"/>
    <p:sldId id="261" r:id="rId11"/>
    <p:sldId id="262" r:id="rId12"/>
    <p:sldId id="264" r:id="rId13"/>
    <p:sldId id="263" r:id="rId14"/>
    <p:sldId id="267"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B5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snapToObjects="1">
      <p:cViewPr>
        <p:scale>
          <a:sx n="50" d="100"/>
          <a:sy n="50" d="100"/>
        </p:scale>
        <p:origin x="2525" y="6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7C69AD-B249-4E70-85AD-EAE037BEC73C}" type="datetimeFigureOut">
              <a:rPr lang="en-IN" smtClean="0"/>
              <a:t>31-10-2025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662EFE-E5BA-4660-B246-1FB4C796E3F5}" type="slidenum">
              <a:rPr lang="en-IN" smtClean="0"/>
              <a:t>‹#›</a:t>
            </a:fld>
            <a:endParaRPr lang="en-IN"/>
          </a:p>
        </p:txBody>
      </p:sp>
    </p:spTree>
    <p:extLst>
      <p:ext uri="{BB962C8B-B14F-4D97-AF65-F5344CB8AC3E}">
        <p14:creationId xmlns:p14="http://schemas.microsoft.com/office/powerpoint/2010/main" val="2321309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662EFE-E5BA-4660-B246-1FB4C796E3F5}" type="slidenum">
              <a:rPr lang="en-IN" smtClean="0"/>
              <a:t>1</a:t>
            </a:fld>
            <a:endParaRPr lang="en-IN"/>
          </a:p>
        </p:txBody>
      </p:sp>
    </p:spTree>
    <p:extLst>
      <p:ext uri="{BB962C8B-B14F-4D97-AF65-F5344CB8AC3E}">
        <p14:creationId xmlns:p14="http://schemas.microsoft.com/office/powerpoint/2010/main" val="37499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a:extLst>
            <a:ext uri="{FF2B5EF4-FFF2-40B4-BE49-F238E27FC236}">
              <a16:creationId xmlns:a16="http://schemas.microsoft.com/office/drawing/2014/main" id="{7F437825-A1FB-FEE6-1AA4-0135FC9716C1}"/>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F42E4FB8-83B9-4D23-D555-83A74FAC11C9}"/>
              </a:ext>
            </a:extLst>
          </p:cNvPr>
          <p:cNvGrpSpPr/>
          <p:nvPr/>
        </p:nvGrpSpPr>
        <p:grpSpPr>
          <a:xfrm>
            <a:off x="575681" y="359664"/>
            <a:ext cx="7992638" cy="1544026"/>
            <a:chOff x="320864" y="359664"/>
            <a:chExt cx="7992638" cy="1544026"/>
          </a:xfrm>
        </p:grpSpPr>
        <p:grpSp>
          <p:nvGrpSpPr>
            <p:cNvPr id="10" name="Group 9">
              <a:extLst>
                <a:ext uri="{FF2B5EF4-FFF2-40B4-BE49-F238E27FC236}">
                  <a16:creationId xmlns:a16="http://schemas.microsoft.com/office/drawing/2014/main" id="{CADFFDA0-75DC-62EF-ECC7-E9A176E6402F}"/>
                </a:ext>
              </a:extLst>
            </p:cNvPr>
            <p:cNvGrpSpPr/>
            <p:nvPr/>
          </p:nvGrpSpPr>
          <p:grpSpPr>
            <a:xfrm>
              <a:off x="1209368" y="359664"/>
              <a:ext cx="7104134" cy="1544026"/>
              <a:chOff x="1209368" y="359664"/>
              <a:chExt cx="7104134" cy="1544026"/>
            </a:xfrm>
          </p:grpSpPr>
          <p:sp>
            <p:nvSpPr>
              <p:cNvPr id="4" name="TextBox 3">
                <a:extLst>
                  <a:ext uri="{FF2B5EF4-FFF2-40B4-BE49-F238E27FC236}">
                    <a16:creationId xmlns:a16="http://schemas.microsoft.com/office/drawing/2014/main" id="{5E47CA16-4A8F-7954-B6BA-6EEE9EDB9FA8}"/>
                  </a:ext>
                </a:extLst>
              </p:cNvPr>
              <p:cNvSpPr txBox="1"/>
              <p:nvPr/>
            </p:nvSpPr>
            <p:spPr>
              <a:xfrm>
                <a:off x="1209368" y="700790"/>
                <a:ext cx="7104134" cy="507831"/>
              </a:xfrm>
              <a:prstGeom prst="rect">
                <a:avLst/>
              </a:prstGeom>
              <a:noFill/>
            </p:spPr>
            <p:txBody>
              <a:bodyPr wrap="square" rtlCol="0">
                <a:spAutoFit/>
              </a:bodyPr>
              <a:lstStyle/>
              <a:p>
                <a:pPr algn="ctr"/>
                <a:r>
                  <a:rPr lang="en-US" sz="2700" b="1" dirty="0">
                    <a:solidFill>
                      <a:schemeClr val="accent5">
                        <a:lumMod val="60000"/>
                        <a:lumOff val="40000"/>
                      </a:schemeClr>
                    </a:solidFill>
                  </a:rPr>
                  <a:t>Pratibha Institute Of Business Management</a:t>
                </a:r>
                <a:endParaRPr lang="en-IN" sz="2700" b="1" dirty="0">
                  <a:solidFill>
                    <a:schemeClr val="accent5">
                      <a:lumMod val="60000"/>
                      <a:lumOff val="40000"/>
                    </a:schemeClr>
                  </a:solidFill>
                </a:endParaRPr>
              </a:p>
            </p:txBody>
          </p:sp>
          <p:grpSp>
            <p:nvGrpSpPr>
              <p:cNvPr id="9" name="Group 8">
                <a:extLst>
                  <a:ext uri="{FF2B5EF4-FFF2-40B4-BE49-F238E27FC236}">
                    <a16:creationId xmlns:a16="http://schemas.microsoft.com/office/drawing/2014/main" id="{3E155ED3-4AB9-CEA7-D109-7D3252EFABA2}"/>
                  </a:ext>
                </a:extLst>
              </p:cNvPr>
              <p:cNvGrpSpPr/>
              <p:nvPr/>
            </p:nvGrpSpPr>
            <p:grpSpPr>
              <a:xfrm>
                <a:off x="2209800" y="359664"/>
                <a:ext cx="4724400" cy="1544026"/>
                <a:chOff x="2209800" y="359664"/>
                <a:chExt cx="4724400" cy="1544026"/>
              </a:xfrm>
            </p:grpSpPr>
            <p:sp>
              <p:nvSpPr>
                <p:cNvPr id="6" name="TextBox 5">
                  <a:extLst>
                    <a:ext uri="{FF2B5EF4-FFF2-40B4-BE49-F238E27FC236}">
                      <a16:creationId xmlns:a16="http://schemas.microsoft.com/office/drawing/2014/main" id="{746B759A-8E87-C6E3-D3B1-6756C419F2F9}"/>
                    </a:ext>
                  </a:extLst>
                </p:cNvPr>
                <p:cNvSpPr txBox="1"/>
                <p:nvPr/>
              </p:nvSpPr>
              <p:spPr>
                <a:xfrm>
                  <a:off x="2209800" y="359664"/>
                  <a:ext cx="4724400" cy="400110"/>
                </a:xfrm>
                <a:prstGeom prst="rect">
                  <a:avLst/>
                </a:prstGeom>
                <a:noFill/>
              </p:spPr>
              <p:txBody>
                <a:bodyPr wrap="square" rtlCol="0">
                  <a:spAutoFit/>
                </a:bodyPr>
                <a:lstStyle/>
                <a:p>
                  <a:pPr algn="ctr"/>
                  <a:r>
                    <a:rPr lang="en-US" sz="2000" dirty="0">
                      <a:solidFill>
                        <a:schemeClr val="bg1">
                          <a:lumMod val="95000"/>
                        </a:schemeClr>
                      </a:solidFill>
                    </a:rPr>
                    <a:t>Kamla Education Society’s </a:t>
                  </a:r>
                  <a:endParaRPr lang="en-IN" sz="2000" dirty="0">
                    <a:solidFill>
                      <a:schemeClr val="bg1">
                        <a:lumMod val="95000"/>
                      </a:schemeClr>
                    </a:solidFill>
                  </a:endParaRPr>
                </a:p>
              </p:txBody>
            </p:sp>
            <p:sp>
              <p:nvSpPr>
                <p:cNvPr id="7" name="TextBox 6">
                  <a:extLst>
                    <a:ext uri="{FF2B5EF4-FFF2-40B4-BE49-F238E27FC236}">
                      <a16:creationId xmlns:a16="http://schemas.microsoft.com/office/drawing/2014/main" id="{2D097084-E437-5344-46DF-1CF6D37FA442}"/>
                    </a:ext>
                  </a:extLst>
                </p:cNvPr>
                <p:cNvSpPr txBox="1"/>
                <p:nvPr/>
              </p:nvSpPr>
              <p:spPr>
                <a:xfrm>
                  <a:off x="2209800" y="1195804"/>
                  <a:ext cx="4724400" cy="707886"/>
                </a:xfrm>
                <a:prstGeom prst="rect">
                  <a:avLst/>
                </a:prstGeom>
                <a:noFill/>
              </p:spPr>
              <p:txBody>
                <a:bodyPr wrap="square" rtlCol="0">
                  <a:spAutoFit/>
                </a:bodyPr>
                <a:lstStyle/>
                <a:p>
                  <a:pPr algn="ctr"/>
                  <a:r>
                    <a:rPr lang="en-US" sz="2000" b="1" dirty="0">
                      <a:solidFill>
                        <a:schemeClr val="bg1">
                          <a:lumMod val="95000"/>
                        </a:schemeClr>
                      </a:solidFill>
                    </a:rPr>
                    <a:t>Chinchwad, Pune-411019</a:t>
                  </a:r>
                  <a:endParaRPr lang="en-IN" sz="2000" dirty="0">
                    <a:solidFill>
                      <a:schemeClr val="bg1">
                        <a:lumMod val="95000"/>
                      </a:schemeClr>
                    </a:solidFill>
                  </a:endParaRPr>
                </a:p>
                <a:p>
                  <a:pPr algn="ctr"/>
                  <a:r>
                    <a:rPr lang="en-US" sz="2000" b="1" dirty="0">
                      <a:solidFill>
                        <a:schemeClr val="bg1">
                          <a:lumMod val="95000"/>
                        </a:schemeClr>
                      </a:solidFill>
                    </a:rPr>
                    <a:t>2025-2026</a:t>
                  </a:r>
                  <a:endParaRPr lang="en-IN" sz="2000" dirty="0">
                    <a:solidFill>
                      <a:schemeClr val="bg1">
                        <a:lumMod val="95000"/>
                      </a:schemeClr>
                    </a:solidFill>
                  </a:endParaRPr>
                </a:p>
              </p:txBody>
            </p:sp>
          </p:grpSp>
        </p:grpSp>
        <p:pic>
          <p:nvPicPr>
            <p:cNvPr id="8" name="Picture 7" descr="KES Pratibha Institute of Business Management | LinkedIn">
              <a:extLst>
                <a:ext uri="{FF2B5EF4-FFF2-40B4-BE49-F238E27FC236}">
                  <a16:creationId xmlns:a16="http://schemas.microsoft.com/office/drawing/2014/main" id="{EB0FE7E8-7913-0AB4-60A2-A91E259629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0864" y="359664"/>
              <a:ext cx="1236763" cy="1236763"/>
            </a:xfrm>
            <a:prstGeom prst="rect">
              <a:avLst/>
            </a:prstGeom>
            <a:noFill/>
            <a:ln>
              <a:noFill/>
            </a:ln>
          </p:spPr>
        </p:pic>
      </p:grpSp>
      <p:sp>
        <p:nvSpPr>
          <p:cNvPr id="12" name="TextBox 11">
            <a:extLst>
              <a:ext uri="{FF2B5EF4-FFF2-40B4-BE49-F238E27FC236}">
                <a16:creationId xmlns:a16="http://schemas.microsoft.com/office/drawing/2014/main" id="{76D9859C-7484-45A8-7013-EB6C3BF6A89B}"/>
              </a:ext>
            </a:extLst>
          </p:cNvPr>
          <p:cNvSpPr txBox="1"/>
          <p:nvPr/>
        </p:nvSpPr>
        <p:spPr>
          <a:xfrm>
            <a:off x="1274750" y="2490114"/>
            <a:ext cx="7104134" cy="477054"/>
          </a:xfrm>
          <a:prstGeom prst="rect">
            <a:avLst/>
          </a:prstGeom>
          <a:noFill/>
        </p:spPr>
        <p:txBody>
          <a:bodyPr wrap="square" rtlCol="0">
            <a:spAutoFit/>
          </a:bodyPr>
          <a:lstStyle/>
          <a:p>
            <a:pPr algn="ctr"/>
            <a:r>
              <a:rPr lang="en-US" sz="2500" b="1" dirty="0">
                <a:solidFill>
                  <a:schemeClr val="accent5">
                    <a:lumMod val="60000"/>
                    <a:lumOff val="40000"/>
                  </a:schemeClr>
                </a:solidFill>
              </a:rPr>
              <a:t>Project Name :  Brief Analysis On Employee Survey</a:t>
            </a:r>
            <a:endParaRPr lang="en-IN" sz="2500" b="1" dirty="0">
              <a:solidFill>
                <a:schemeClr val="accent5">
                  <a:lumMod val="60000"/>
                  <a:lumOff val="40000"/>
                </a:schemeClr>
              </a:solidFill>
            </a:endParaRPr>
          </a:p>
        </p:txBody>
      </p:sp>
      <p:sp>
        <p:nvSpPr>
          <p:cNvPr id="13" name="TextBox 12">
            <a:extLst>
              <a:ext uri="{FF2B5EF4-FFF2-40B4-BE49-F238E27FC236}">
                <a16:creationId xmlns:a16="http://schemas.microsoft.com/office/drawing/2014/main" id="{7C1D5FB5-13B8-40B1-6531-8A313173185C}"/>
              </a:ext>
            </a:extLst>
          </p:cNvPr>
          <p:cNvSpPr txBox="1"/>
          <p:nvPr/>
        </p:nvSpPr>
        <p:spPr>
          <a:xfrm>
            <a:off x="1019933" y="3056247"/>
            <a:ext cx="7104134" cy="477054"/>
          </a:xfrm>
          <a:prstGeom prst="rect">
            <a:avLst/>
          </a:prstGeom>
          <a:noFill/>
        </p:spPr>
        <p:txBody>
          <a:bodyPr wrap="square" rtlCol="0">
            <a:spAutoFit/>
          </a:bodyPr>
          <a:lstStyle/>
          <a:p>
            <a:pPr algn="ctr"/>
            <a:r>
              <a:rPr lang="en-US" sz="2500" b="1" dirty="0">
                <a:solidFill>
                  <a:schemeClr val="accent5">
                    <a:lumMod val="60000"/>
                    <a:lumOff val="40000"/>
                  </a:schemeClr>
                </a:solidFill>
              </a:rPr>
              <a:t>Class : MCA 1</a:t>
            </a:r>
            <a:r>
              <a:rPr lang="en-US" sz="2500" b="1" baseline="30000" dirty="0">
                <a:solidFill>
                  <a:schemeClr val="accent5">
                    <a:lumMod val="60000"/>
                    <a:lumOff val="40000"/>
                  </a:schemeClr>
                </a:solidFill>
              </a:rPr>
              <a:t>St</a:t>
            </a:r>
            <a:endParaRPr lang="en-IN" sz="2500" b="1" dirty="0">
              <a:solidFill>
                <a:schemeClr val="accent5">
                  <a:lumMod val="60000"/>
                  <a:lumOff val="40000"/>
                </a:schemeClr>
              </a:solidFill>
            </a:endParaRPr>
          </a:p>
        </p:txBody>
      </p:sp>
      <p:sp>
        <p:nvSpPr>
          <p:cNvPr id="14" name="TextBox 13">
            <a:extLst>
              <a:ext uri="{FF2B5EF4-FFF2-40B4-BE49-F238E27FC236}">
                <a16:creationId xmlns:a16="http://schemas.microsoft.com/office/drawing/2014/main" id="{02480C89-519E-9E2E-F0A9-BEB69FE49A72}"/>
              </a:ext>
            </a:extLst>
          </p:cNvPr>
          <p:cNvSpPr txBox="1"/>
          <p:nvPr/>
        </p:nvSpPr>
        <p:spPr>
          <a:xfrm>
            <a:off x="1019933" y="3771607"/>
            <a:ext cx="7104134" cy="477054"/>
          </a:xfrm>
          <a:prstGeom prst="rect">
            <a:avLst/>
          </a:prstGeom>
          <a:noFill/>
        </p:spPr>
        <p:txBody>
          <a:bodyPr wrap="square" rtlCol="0">
            <a:spAutoFit/>
          </a:bodyPr>
          <a:lstStyle/>
          <a:p>
            <a:pPr algn="ctr"/>
            <a:r>
              <a:rPr lang="en-US" sz="2500" b="1" dirty="0">
                <a:solidFill>
                  <a:schemeClr val="accent5">
                    <a:lumMod val="60000"/>
                    <a:lumOff val="40000"/>
                  </a:schemeClr>
                </a:solidFill>
              </a:rPr>
              <a:t>Roll No : MC25059</a:t>
            </a:r>
            <a:endParaRPr lang="en-IN" sz="2500" b="1" dirty="0">
              <a:solidFill>
                <a:schemeClr val="accent5">
                  <a:lumMod val="60000"/>
                  <a:lumOff val="40000"/>
                </a:schemeClr>
              </a:solidFill>
            </a:endParaRPr>
          </a:p>
        </p:txBody>
      </p:sp>
      <p:sp>
        <p:nvSpPr>
          <p:cNvPr id="15" name="TextBox 14">
            <a:extLst>
              <a:ext uri="{FF2B5EF4-FFF2-40B4-BE49-F238E27FC236}">
                <a16:creationId xmlns:a16="http://schemas.microsoft.com/office/drawing/2014/main" id="{818C2DE7-3529-692A-D6BC-07F190F9088E}"/>
              </a:ext>
            </a:extLst>
          </p:cNvPr>
          <p:cNvSpPr txBox="1"/>
          <p:nvPr/>
        </p:nvSpPr>
        <p:spPr>
          <a:xfrm>
            <a:off x="1019933" y="4426988"/>
            <a:ext cx="7104134" cy="477054"/>
          </a:xfrm>
          <a:prstGeom prst="rect">
            <a:avLst/>
          </a:prstGeom>
          <a:noFill/>
        </p:spPr>
        <p:txBody>
          <a:bodyPr wrap="square" rtlCol="0">
            <a:spAutoFit/>
          </a:bodyPr>
          <a:lstStyle/>
          <a:p>
            <a:pPr algn="ctr"/>
            <a:r>
              <a:rPr lang="en-US" sz="2500" b="1" dirty="0">
                <a:solidFill>
                  <a:schemeClr val="accent5">
                    <a:lumMod val="60000"/>
                    <a:lumOff val="40000"/>
                  </a:schemeClr>
                </a:solidFill>
              </a:rPr>
              <a:t>Subject : Mini Project</a:t>
            </a:r>
            <a:endParaRPr lang="en-IN" sz="2500" b="1" dirty="0">
              <a:solidFill>
                <a:schemeClr val="accent5">
                  <a:lumMod val="60000"/>
                  <a:lumOff val="40000"/>
                </a:schemeClr>
              </a:solidFill>
            </a:endParaRPr>
          </a:p>
        </p:txBody>
      </p:sp>
      <p:sp>
        <p:nvSpPr>
          <p:cNvPr id="16" name="TextBox 15">
            <a:extLst>
              <a:ext uri="{FF2B5EF4-FFF2-40B4-BE49-F238E27FC236}">
                <a16:creationId xmlns:a16="http://schemas.microsoft.com/office/drawing/2014/main" id="{879491E3-A962-E8DE-17DB-01B7AB84943D}"/>
              </a:ext>
            </a:extLst>
          </p:cNvPr>
          <p:cNvSpPr txBox="1"/>
          <p:nvPr/>
        </p:nvSpPr>
        <p:spPr>
          <a:xfrm>
            <a:off x="363794" y="5368413"/>
            <a:ext cx="3283974" cy="707886"/>
          </a:xfrm>
          <a:prstGeom prst="rect">
            <a:avLst/>
          </a:prstGeom>
          <a:noFill/>
        </p:spPr>
        <p:txBody>
          <a:bodyPr wrap="square" rtlCol="0">
            <a:spAutoFit/>
          </a:bodyPr>
          <a:lstStyle/>
          <a:p>
            <a:pPr algn="ctr"/>
            <a:r>
              <a:rPr lang="en-US" sz="2000" b="1" dirty="0">
                <a:solidFill>
                  <a:schemeClr val="accent5">
                    <a:lumMod val="60000"/>
                    <a:lumOff val="40000"/>
                  </a:schemeClr>
                </a:solidFill>
              </a:rPr>
              <a:t>Submitted BY :</a:t>
            </a:r>
          </a:p>
          <a:p>
            <a:pPr algn="ctr"/>
            <a:r>
              <a:rPr lang="en-US" sz="2000" b="1" dirty="0">
                <a:solidFill>
                  <a:schemeClr val="accent5">
                    <a:lumMod val="60000"/>
                    <a:lumOff val="40000"/>
                  </a:schemeClr>
                </a:solidFill>
              </a:rPr>
              <a:t>Om </a:t>
            </a:r>
            <a:r>
              <a:rPr lang="en-US" sz="2000" b="1" dirty="0" err="1">
                <a:solidFill>
                  <a:schemeClr val="accent5">
                    <a:lumMod val="60000"/>
                    <a:lumOff val="40000"/>
                  </a:schemeClr>
                </a:solidFill>
              </a:rPr>
              <a:t>Shaileshrao</a:t>
            </a:r>
            <a:r>
              <a:rPr lang="en-US" sz="2000" b="1" dirty="0">
                <a:solidFill>
                  <a:schemeClr val="accent5">
                    <a:lumMod val="60000"/>
                    <a:lumOff val="40000"/>
                  </a:schemeClr>
                </a:solidFill>
              </a:rPr>
              <a:t> Nimmalwar</a:t>
            </a:r>
            <a:endParaRPr lang="en-IN" sz="2000" b="1" dirty="0">
              <a:solidFill>
                <a:schemeClr val="accent5">
                  <a:lumMod val="60000"/>
                  <a:lumOff val="40000"/>
                </a:schemeClr>
              </a:solidFill>
            </a:endParaRPr>
          </a:p>
        </p:txBody>
      </p:sp>
      <p:sp>
        <p:nvSpPr>
          <p:cNvPr id="17" name="TextBox 16">
            <a:extLst>
              <a:ext uri="{FF2B5EF4-FFF2-40B4-BE49-F238E27FC236}">
                <a16:creationId xmlns:a16="http://schemas.microsoft.com/office/drawing/2014/main" id="{07C7283B-04D4-2E57-1009-5A46FE6152D8}"/>
              </a:ext>
            </a:extLst>
          </p:cNvPr>
          <p:cNvSpPr txBox="1"/>
          <p:nvPr/>
        </p:nvSpPr>
        <p:spPr>
          <a:xfrm>
            <a:off x="5343834" y="5368412"/>
            <a:ext cx="3283974" cy="707886"/>
          </a:xfrm>
          <a:prstGeom prst="rect">
            <a:avLst/>
          </a:prstGeom>
          <a:noFill/>
        </p:spPr>
        <p:txBody>
          <a:bodyPr wrap="square" rtlCol="0">
            <a:spAutoFit/>
          </a:bodyPr>
          <a:lstStyle/>
          <a:p>
            <a:pPr algn="ctr"/>
            <a:r>
              <a:rPr lang="en-US" sz="2000" b="1" dirty="0">
                <a:solidFill>
                  <a:schemeClr val="accent5">
                    <a:lumMod val="60000"/>
                    <a:lumOff val="40000"/>
                  </a:schemeClr>
                </a:solidFill>
              </a:rPr>
              <a:t>Guided By : </a:t>
            </a:r>
          </a:p>
          <a:p>
            <a:pPr algn="ctr"/>
            <a:r>
              <a:rPr lang="en-US" sz="2000" b="1" dirty="0">
                <a:solidFill>
                  <a:schemeClr val="accent5">
                    <a:lumMod val="60000"/>
                    <a:lumOff val="40000"/>
                  </a:schemeClr>
                </a:solidFill>
              </a:rPr>
              <a:t>Prof Rupali Deshpande</a:t>
            </a:r>
            <a:endParaRPr lang="en-IN" sz="2000" b="1" dirty="0">
              <a:solidFill>
                <a:schemeClr val="accent5">
                  <a:lumMod val="60000"/>
                  <a:lumOff val="40000"/>
                </a:schemeClr>
              </a:solidFill>
            </a:endParaRPr>
          </a:p>
        </p:txBody>
      </p:sp>
    </p:spTree>
    <p:extLst>
      <p:ext uri="{BB962C8B-B14F-4D97-AF65-F5344CB8AC3E}">
        <p14:creationId xmlns:p14="http://schemas.microsoft.com/office/powerpoint/2010/main" val="2656868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a:extLst>
            <a:ext uri="{FF2B5EF4-FFF2-40B4-BE49-F238E27FC236}">
              <a16:creationId xmlns:a16="http://schemas.microsoft.com/office/drawing/2014/main" id="{78C1D968-6505-07D3-75DF-4B155D1D4C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1ECD4E-AAB8-9D70-DD68-0E6AA98A4E4D}"/>
              </a:ext>
            </a:extLst>
          </p:cNvPr>
          <p:cNvSpPr txBox="1"/>
          <p:nvPr/>
        </p:nvSpPr>
        <p:spPr>
          <a:xfrm>
            <a:off x="830498" y="0"/>
            <a:ext cx="7483004" cy="1200329"/>
          </a:xfrm>
          <a:prstGeom prst="rect">
            <a:avLst/>
          </a:prstGeom>
          <a:noFill/>
        </p:spPr>
        <p:txBody>
          <a:bodyPr wrap="square" rtlCol="0">
            <a:spAutoFit/>
          </a:bodyPr>
          <a:lstStyle/>
          <a:p>
            <a:pPr algn="ctr"/>
            <a:r>
              <a:rPr lang="en-US" sz="7200" b="1" dirty="0">
                <a:solidFill>
                  <a:schemeClr val="accent5">
                    <a:lumMod val="60000"/>
                    <a:lumOff val="40000"/>
                  </a:schemeClr>
                </a:solidFill>
              </a:rPr>
              <a:t>Index</a:t>
            </a:r>
            <a:endParaRPr lang="en-IN" sz="7200" b="1" dirty="0">
              <a:solidFill>
                <a:schemeClr val="accent5">
                  <a:lumMod val="60000"/>
                  <a:lumOff val="40000"/>
                </a:schemeClr>
              </a:solidFill>
            </a:endParaRPr>
          </a:p>
        </p:txBody>
      </p:sp>
      <p:sp>
        <p:nvSpPr>
          <p:cNvPr id="5" name="TextBox 4">
            <a:extLst>
              <a:ext uri="{FF2B5EF4-FFF2-40B4-BE49-F238E27FC236}">
                <a16:creationId xmlns:a16="http://schemas.microsoft.com/office/drawing/2014/main" id="{56E8E4C1-A9D2-1E99-4F30-C571638AEE92}"/>
              </a:ext>
            </a:extLst>
          </p:cNvPr>
          <p:cNvSpPr txBox="1"/>
          <p:nvPr/>
        </p:nvSpPr>
        <p:spPr>
          <a:xfrm>
            <a:off x="284480" y="1459230"/>
            <a:ext cx="8575040" cy="4247317"/>
          </a:xfrm>
          <a:prstGeom prst="rect">
            <a:avLst/>
          </a:prstGeom>
          <a:noFill/>
        </p:spPr>
        <p:txBody>
          <a:bodyPr wrap="square" rtlCol="0">
            <a:spAutoFit/>
          </a:bodyPr>
          <a:lstStyle/>
          <a:p>
            <a:pPr marL="342900" indent="-342900">
              <a:buFont typeface="+mj-lt"/>
              <a:buAutoNum type="arabicPeriod"/>
            </a:pPr>
            <a:r>
              <a:rPr lang="en-US" sz="2700" dirty="0">
                <a:solidFill>
                  <a:schemeClr val="accent5">
                    <a:lumMod val="60000"/>
                    <a:lumOff val="40000"/>
                  </a:schemeClr>
                </a:solidFill>
              </a:rPr>
              <a:t>Introduction</a:t>
            </a:r>
          </a:p>
          <a:p>
            <a:pPr marL="342900" indent="-342900">
              <a:buFont typeface="+mj-lt"/>
              <a:buAutoNum type="arabicPeriod"/>
            </a:pPr>
            <a:r>
              <a:rPr lang="en-US" sz="2700" dirty="0">
                <a:solidFill>
                  <a:schemeClr val="accent5">
                    <a:lumMod val="60000"/>
                    <a:lumOff val="40000"/>
                  </a:schemeClr>
                </a:solidFill>
              </a:rPr>
              <a:t>Problem Statement</a:t>
            </a:r>
          </a:p>
          <a:p>
            <a:pPr marL="342900" indent="-342900">
              <a:buFont typeface="+mj-lt"/>
              <a:buAutoNum type="arabicPeriod"/>
            </a:pPr>
            <a:r>
              <a:rPr lang="en-IN" sz="2700" dirty="0">
                <a:solidFill>
                  <a:schemeClr val="accent5">
                    <a:lumMod val="60000"/>
                    <a:lumOff val="40000"/>
                  </a:schemeClr>
                </a:solidFill>
              </a:rPr>
              <a:t>Objectives</a:t>
            </a:r>
          </a:p>
          <a:p>
            <a:pPr marL="342900" indent="-342900">
              <a:buFont typeface="+mj-lt"/>
              <a:buAutoNum type="arabicPeriod"/>
            </a:pPr>
            <a:r>
              <a:rPr lang="en-IN" sz="2700" dirty="0">
                <a:solidFill>
                  <a:schemeClr val="accent5">
                    <a:lumMod val="60000"/>
                    <a:lumOff val="40000"/>
                  </a:schemeClr>
                </a:solidFill>
              </a:rPr>
              <a:t>Scope of the Project</a:t>
            </a:r>
          </a:p>
          <a:p>
            <a:pPr marL="342900" indent="-342900">
              <a:buFont typeface="+mj-lt"/>
              <a:buAutoNum type="arabicPeriod"/>
            </a:pPr>
            <a:r>
              <a:rPr lang="en-IN" sz="2700" dirty="0">
                <a:solidFill>
                  <a:schemeClr val="accent5">
                    <a:lumMod val="60000"/>
                    <a:lumOff val="40000"/>
                  </a:schemeClr>
                </a:solidFill>
              </a:rPr>
              <a:t>Existing System</a:t>
            </a:r>
          </a:p>
          <a:p>
            <a:pPr marL="342900" indent="-342900">
              <a:buFont typeface="+mj-lt"/>
              <a:buAutoNum type="arabicPeriod"/>
            </a:pPr>
            <a:r>
              <a:rPr lang="en-IN" sz="2700" dirty="0">
                <a:solidFill>
                  <a:schemeClr val="accent5">
                    <a:lumMod val="60000"/>
                    <a:lumOff val="40000"/>
                  </a:schemeClr>
                </a:solidFill>
              </a:rPr>
              <a:t>Methodology</a:t>
            </a:r>
          </a:p>
          <a:p>
            <a:pPr marL="342900" indent="-342900">
              <a:buFont typeface="+mj-lt"/>
              <a:buAutoNum type="arabicPeriod"/>
            </a:pPr>
            <a:r>
              <a:rPr lang="en-IN" sz="2700" dirty="0">
                <a:solidFill>
                  <a:schemeClr val="accent5">
                    <a:lumMod val="60000"/>
                    <a:lumOff val="40000"/>
                  </a:schemeClr>
                </a:solidFill>
              </a:rPr>
              <a:t>Software Requirements Specification (SRS)</a:t>
            </a:r>
          </a:p>
          <a:p>
            <a:pPr marL="342900" indent="-342900">
              <a:buFont typeface="+mj-lt"/>
              <a:buAutoNum type="arabicPeriod"/>
            </a:pPr>
            <a:r>
              <a:rPr lang="en-IN" sz="2700" dirty="0">
                <a:solidFill>
                  <a:schemeClr val="accent5">
                    <a:lumMod val="60000"/>
                    <a:lumOff val="40000"/>
                  </a:schemeClr>
                </a:solidFill>
              </a:rPr>
              <a:t>Expected Outcome</a:t>
            </a:r>
          </a:p>
          <a:p>
            <a:pPr marL="342900" indent="-342900">
              <a:buFont typeface="+mj-lt"/>
              <a:buAutoNum type="arabicPeriod"/>
            </a:pPr>
            <a:r>
              <a:rPr lang="en-IN" sz="2700" dirty="0">
                <a:solidFill>
                  <a:schemeClr val="accent5">
                    <a:lumMod val="60000"/>
                    <a:lumOff val="40000"/>
                  </a:schemeClr>
                </a:solidFill>
              </a:rPr>
              <a:t>Future Scope</a:t>
            </a:r>
          </a:p>
          <a:p>
            <a:pPr marL="342900" indent="-342900">
              <a:buFont typeface="+mj-lt"/>
              <a:buAutoNum type="arabicPeriod"/>
            </a:pPr>
            <a:r>
              <a:rPr lang="en-IN" sz="2700" dirty="0">
                <a:solidFill>
                  <a:schemeClr val="accent5">
                    <a:lumMod val="60000"/>
                    <a:lumOff val="40000"/>
                  </a:schemeClr>
                </a:solidFill>
              </a:rPr>
              <a:t>Conclusion</a:t>
            </a:r>
          </a:p>
        </p:txBody>
      </p:sp>
    </p:spTree>
    <p:extLst>
      <p:ext uri="{BB962C8B-B14F-4D97-AF65-F5344CB8AC3E}">
        <p14:creationId xmlns:p14="http://schemas.microsoft.com/office/powerpoint/2010/main" val="1484370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a:extLst>
            <a:ext uri="{FF2B5EF4-FFF2-40B4-BE49-F238E27FC236}">
              <a16:creationId xmlns:a16="http://schemas.microsoft.com/office/drawing/2014/main" id="{97251D1F-9C95-B559-860C-35DD9E737D2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059885C-CEE9-1CAA-108A-6A1A4A377C5B}"/>
              </a:ext>
            </a:extLst>
          </p:cNvPr>
          <p:cNvSpPr txBox="1"/>
          <p:nvPr/>
        </p:nvSpPr>
        <p:spPr>
          <a:xfrm>
            <a:off x="1071716" y="0"/>
            <a:ext cx="6813755" cy="1200329"/>
          </a:xfrm>
          <a:prstGeom prst="rect">
            <a:avLst/>
          </a:prstGeom>
          <a:noFill/>
        </p:spPr>
        <p:txBody>
          <a:bodyPr wrap="square" rtlCol="0">
            <a:spAutoFit/>
          </a:bodyPr>
          <a:lstStyle/>
          <a:p>
            <a:pPr algn="ctr"/>
            <a:r>
              <a:rPr lang="en-US" sz="7200" b="1" dirty="0">
                <a:solidFill>
                  <a:schemeClr val="accent5">
                    <a:lumMod val="60000"/>
                    <a:lumOff val="40000"/>
                  </a:schemeClr>
                </a:solidFill>
              </a:rPr>
              <a:t>Introduction</a:t>
            </a:r>
            <a:endParaRPr lang="en-IN" sz="7200" b="1" dirty="0">
              <a:solidFill>
                <a:schemeClr val="accent5">
                  <a:lumMod val="60000"/>
                  <a:lumOff val="40000"/>
                </a:schemeClr>
              </a:solidFill>
            </a:endParaRPr>
          </a:p>
        </p:txBody>
      </p:sp>
      <p:sp>
        <p:nvSpPr>
          <p:cNvPr id="6" name="TextBox 5">
            <a:extLst>
              <a:ext uri="{FF2B5EF4-FFF2-40B4-BE49-F238E27FC236}">
                <a16:creationId xmlns:a16="http://schemas.microsoft.com/office/drawing/2014/main" id="{851EC965-38EC-2DA5-4BD9-E5CB8E4490CA}"/>
              </a:ext>
            </a:extLst>
          </p:cNvPr>
          <p:cNvSpPr txBox="1"/>
          <p:nvPr/>
        </p:nvSpPr>
        <p:spPr>
          <a:xfrm>
            <a:off x="533400" y="1676400"/>
            <a:ext cx="8321040" cy="2785378"/>
          </a:xfrm>
          <a:prstGeom prst="rect">
            <a:avLst/>
          </a:prstGeom>
          <a:noFill/>
        </p:spPr>
        <p:txBody>
          <a:bodyPr wrap="square" rtlCol="0">
            <a:spAutoFit/>
          </a:bodyPr>
          <a:lstStyle/>
          <a:p>
            <a:r>
              <a:rPr lang="en-US" sz="2500" dirty="0">
                <a:solidFill>
                  <a:schemeClr val="accent5">
                    <a:lumMod val="60000"/>
                    <a:lumOff val="40000"/>
                  </a:schemeClr>
                </a:solidFill>
              </a:rPr>
              <a:t>An employee survey is a method used by organizations to gather feedback from employees about their work environment, satisfaction, and performance. It plays an important role in understanding employee needs, improving productivity, and building a positive workplace culture. The data collected from such surveys helps management make informed decisions for overall organizational growth.</a:t>
            </a:r>
            <a:endParaRPr lang="en-IN" sz="2500" dirty="0">
              <a:solidFill>
                <a:schemeClr val="accent5">
                  <a:lumMod val="60000"/>
                  <a:lumOff val="40000"/>
                </a:schemeClr>
              </a:solidFill>
            </a:endParaRPr>
          </a:p>
        </p:txBody>
      </p:sp>
    </p:spTree>
    <p:extLst>
      <p:ext uri="{BB962C8B-B14F-4D97-AF65-F5344CB8AC3E}">
        <p14:creationId xmlns:p14="http://schemas.microsoft.com/office/powerpoint/2010/main" val="1376618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a:extLst>
            <a:ext uri="{FF2B5EF4-FFF2-40B4-BE49-F238E27FC236}">
              <a16:creationId xmlns:a16="http://schemas.microsoft.com/office/drawing/2014/main" id="{3B384175-8108-D984-62D3-23D101DF172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32F870-ECB8-8632-9193-424A21A75E01}"/>
              </a:ext>
            </a:extLst>
          </p:cNvPr>
          <p:cNvSpPr txBox="1"/>
          <p:nvPr/>
        </p:nvSpPr>
        <p:spPr>
          <a:xfrm>
            <a:off x="1071716" y="0"/>
            <a:ext cx="6813755" cy="1200329"/>
          </a:xfrm>
          <a:prstGeom prst="rect">
            <a:avLst/>
          </a:prstGeom>
          <a:noFill/>
        </p:spPr>
        <p:txBody>
          <a:bodyPr wrap="square" rtlCol="0">
            <a:spAutoFit/>
          </a:bodyPr>
          <a:lstStyle/>
          <a:p>
            <a:pPr algn="ctr"/>
            <a:r>
              <a:rPr lang="en-US" sz="7200" b="1" dirty="0">
                <a:solidFill>
                  <a:schemeClr val="accent5">
                    <a:lumMod val="60000"/>
                    <a:lumOff val="40000"/>
                  </a:schemeClr>
                </a:solidFill>
              </a:rPr>
              <a:t>Existing System</a:t>
            </a:r>
            <a:endParaRPr lang="en-IN" sz="7200" b="1" dirty="0">
              <a:solidFill>
                <a:schemeClr val="accent5">
                  <a:lumMod val="60000"/>
                  <a:lumOff val="40000"/>
                </a:schemeClr>
              </a:solidFill>
            </a:endParaRPr>
          </a:p>
        </p:txBody>
      </p:sp>
      <p:sp>
        <p:nvSpPr>
          <p:cNvPr id="2" name="TextBox 1">
            <a:extLst>
              <a:ext uri="{FF2B5EF4-FFF2-40B4-BE49-F238E27FC236}">
                <a16:creationId xmlns:a16="http://schemas.microsoft.com/office/drawing/2014/main" id="{2A31E555-6ED0-4C2A-A1C1-5E569C69DE09}"/>
              </a:ext>
            </a:extLst>
          </p:cNvPr>
          <p:cNvSpPr txBox="1"/>
          <p:nvPr/>
        </p:nvSpPr>
        <p:spPr>
          <a:xfrm>
            <a:off x="579120" y="1478280"/>
            <a:ext cx="7787640" cy="2400657"/>
          </a:xfrm>
          <a:prstGeom prst="rect">
            <a:avLst/>
          </a:prstGeom>
          <a:noFill/>
        </p:spPr>
        <p:txBody>
          <a:bodyPr wrap="square" rtlCol="0">
            <a:spAutoFit/>
          </a:bodyPr>
          <a:lstStyle/>
          <a:p>
            <a:r>
              <a:rPr lang="en-US" sz="2500" dirty="0">
                <a:solidFill>
                  <a:schemeClr val="accent5">
                    <a:lumMod val="60000"/>
                    <a:lumOff val="40000"/>
                  </a:schemeClr>
                </a:solidFill>
              </a:rPr>
              <a:t>In most organizations, employee survey data is analyzed manually using spreadsheets or basic tools like Excel. This approach is time-consuming, lacks automation, and provides limited visualization. As a result, identifying patterns, trends, and key insights from employee feedback becomes difficult and inefficient.</a:t>
            </a:r>
            <a:endParaRPr lang="en-IN" sz="2500" dirty="0">
              <a:solidFill>
                <a:schemeClr val="accent5">
                  <a:lumMod val="60000"/>
                  <a:lumOff val="40000"/>
                </a:schemeClr>
              </a:solidFill>
            </a:endParaRPr>
          </a:p>
        </p:txBody>
      </p:sp>
    </p:spTree>
    <p:extLst>
      <p:ext uri="{BB962C8B-B14F-4D97-AF65-F5344CB8AC3E}">
        <p14:creationId xmlns:p14="http://schemas.microsoft.com/office/powerpoint/2010/main" val="3708027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p:cNvGrpSpPr/>
        <p:nvPr/>
      </p:nvGrpSpPr>
      <p:grpSpPr>
        <a:xfrm>
          <a:off x="0" y="0"/>
          <a:ext cx="0" cy="0"/>
          <a:chOff x="0" y="0"/>
          <a:chExt cx="0" cy="0"/>
        </a:xfrm>
      </p:grpSpPr>
      <p:pic>
        <p:nvPicPr>
          <p:cNvPr id="3" name="Picture 2" descr="A diagram of a problem statement">
            <a:extLst>
              <a:ext uri="{FF2B5EF4-FFF2-40B4-BE49-F238E27FC236}">
                <a16:creationId xmlns:a16="http://schemas.microsoft.com/office/drawing/2014/main" id="{97AA82D6-78B5-A994-1A2A-C1E25666B0C9}"/>
              </a:ext>
            </a:extLst>
          </p:cNvPr>
          <p:cNvPicPr>
            <a:picLocks noChangeAspect="1"/>
          </p:cNvPicPr>
          <p:nvPr/>
        </p:nvPicPr>
        <p:blipFill>
          <a:blip r:embed="rId2"/>
          <a:stretch>
            <a:fillRect/>
          </a:stretch>
        </p:blipFill>
        <p:spPr>
          <a:xfrm>
            <a:off x="-78658" y="991270"/>
            <a:ext cx="5338916" cy="5581594"/>
          </a:xfrm>
          <a:prstGeom prst="rect">
            <a:avLst/>
          </a:prstGeom>
        </p:spPr>
      </p:pic>
      <p:sp>
        <p:nvSpPr>
          <p:cNvPr id="4" name="TextBox 3">
            <a:extLst>
              <a:ext uri="{FF2B5EF4-FFF2-40B4-BE49-F238E27FC236}">
                <a16:creationId xmlns:a16="http://schemas.microsoft.com/office/drawing/2014/main" id="{3165569E-000A-8A00-41B0-0A32B7D9B8EB}"/>
              </a:ext>
            </a:extLst>
          </p:cNvPr>
          <p:cNvSpPr txBox="1"/>
          <p:nvPr/>
        </p:nvSpPr>
        <p:spPr>
          <a:xfrm>
            <a:off x="766916" y="30290"/>
            <a:ext cx="7610168" cy="1200329"/>
          </a:xfrm>
          <a:prstGeom prst="rect">
            <a:avLst/>
          </a:prstGeom>
          <a:noFill/>
        </p:spPr>
        <p:txBody>
          <a:bodyPr wrap="square" rtlCol="0">
            <a:spAutoFit/>
          </a:bodyPr>
          <a:lstStyle/>
          <a:p>
            <a:pPr algn="ctr"/>
            <a:r>
              <a:rPr lang="en-US" sz="7200" b="1" dirty="0">
                <a:solidFill>
                  <a:schemeClr val="accent5">
                    <a:lumMod val="60000"/>
                    <a:lumOff val="40000"/>
                  </a:schemeClr>
                </a:solidFill>
              </a:rPr>
              <a:t>Problem Statement</a:t>
            </a:r>
            <a:endParaRPr lang="en-IN" sz="7200" b="1" dirty="0">
              <a:solidFill>
                <a:schemeClr val="accent5">
                  <a:lumMod val="60000"/>
                  <a:lumOff val="40000"/>
                </a:schemeClr>
              </a:solidFill>
            </a:endParaRPr>
          </a:p>
        </p:txBody>
      </p:sp>
      <p:sp>
        <p:nvSpPr>
          <p:cNvPr id="5" name="TextBox 4">
            <a:extLst>
              <a:ext uri="{FF2B5EF4-FFF2-40B4-BE49-F238E27FC236}">
                <a16:creationId xmlns:a16="http://schemas.microsoft.com/office/drawing/2014/main" id="{C58F0427-1FCC-881F-B5EC-9D565D636EF8}"/>
              </a:ext>
            </a:extLst>
          </p:cNvPr>
          <p:cNvSpPr txBox="1"/>
          <p:nvPr/>
        </p:nvSpPr>
        <p:spPr>
          <a:xfrm>
            <a:off x="5083277" y="1307691"/>
            <a:ext cx="3824749" cy="5632311"/>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solidFill>
                  <a:schemeClr val="accent5">
                    <a:lumMod val="40000"/>
                    <a:lumOff val="60000"/>
                  </a:schemeClr>
                </a:solidFill>
              </a:rPr>
              <a:t>Organizations struggle to efficiently analyze large volumes of employee survey data.</a:t>
            </a:r>
          </a:p>
          <a:p>
            <a:pPr marL="342900" indent="-342900">
              <a:buFont typeface="Wingdings" panose="05000000000000000000" pitchFamily="2" charset="2"/>
              <a:buChar char="Ø"/>
            </a:pPr>
            <a:r>
              <a:rPr lang="en-US" sz="2000" dirty="0">
                <a:solidFill>
                  <a:schemeClr val="accent5">
                    <a:lumMod val="40000"/>
                    <a:lumOff val="60000"/>
                  </a:schemeClr>
                </a:solidFill>
              </a:rPr>
              <a:t>Manual analysis is time-consuming and prone to errors.</a:t>
            </a:r>
          </a:p>
          <a:p>
            <a:pPr marL="342900" indent="-342900">
              <a:buFont typeface="Wingdings" panose="05000000000000000000" pitchFamily="2" charset="2"/>
              <a:buChar char="Ø"/>
            </a:pPr>
            <a:r>
              <a:rPr lang="en-US" sz="2000" dirty="0">
                <a:solidFill>
                  <a:schemeClr val="accent5">
                    <a:lumMod val="40000"/>
                    <a:lumOff val="60000"/>
                  </a:schemeClr>
                </a:solidFill>
              </a:rPr>
              <a:t>Identifying key trends and insights from raw survey responses is difficult.</a:t>
            </a:r>
          </a:p>
          <a:p>
            <a:pPr marL="342900" indent="-342900">
              <a:buFont typeface="Wingdings" panose="05000000000000000000" pitchFamily="2" charset="2"/>
              <a:buChar char="Ø"/>
            </a:pPr>
            <a:r>
              <a:rPr lang="en-US" sz="2000" dirty="0">
                <a:solidFill>
                  <a:schemeClr val="accent5">
                    <a:lumMod val="40000"/>
                    <a:lumOff val="60000"/>
                  </a:schemeClr>
                </a:solidFill>
              </a:rPr>
              <a:t>Lack of visualization makes it hard for management to understand employee satisfaction clearly.</a:t>
            </a:r>
          </a:p>
          <a:p>
            <a:pPr marL="342900" indent="-342900">
              <a:buFont typeface="Wingdings" panose="05000000000000000000" pitchFamily="2" charset="2"/>
              <a:buChar char="Ø"/>
            </a:pPr>
            <a:r>
              <a:rPr lang="en-US" sz="2000" dirty="0">
                <a:solidFill>
                  <a:schemeClr val="accent5">
                    <a:lumMod val="40000"/>
                    <a:lumOff val="60000"/>
                  </a:schemeClr>
                </a:solidFill>
              </a:rPr>
              <a:t>Current methods do not provide actionable insights for improving workplace culture and productivity.</a:t>
            </a:r>
          </a:p>
          <a:p>
            <a:endParaRPr lang="en-IN" sz="2000" dirty="0">
              <a:solidFill>
                <a:schemeClr val="accent5">
                  <a:lumMod val="40000"/>
                  <a:lumOff val="6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p:cNvGrpSpPr/>
        <p:nvPr/>
      </p:nvGrpSpPr>
      <p:grpSpPr>
        <a:xfrm>
          <a:off x="0" y="0"/>
          <a:ext cx="0" cy="0"/>
          <a:chOff x="0" y="0"/>
          <a:chExt cx="0" cy="0"/>
        </a:xfrm>
      </p:grpSpPr>
      <p:pic>
        <p:nvPicPr>
          <p:cNvPr id="3" name="Picture 2" descr="A diagram of a dart board&#10;&#10;AI-generated content may be incorrect.">
            <a:extLst>
              <a:ext uri="{FF2B5EF4-FFF2-40B4-BE49-F238E27FC236}">
                <a16:creationId xmlns:a16="http://schemas.microsoft.com/office/drawing/2014/main" id="{CE0B597A-76DB-2D0B-2E83-6E8337E8F0DA}"/>
              </a:ext>
            </a:extLst>
          </p:cNvPr>
          <p:cNvPicPr>
            <a:picLocks noChangeAspect="1"/>
          </p:cNvPicPr>
          <p:nvPr/>
        </p:nvPicPr>
        <p:blipFill>
          <a:blip r:embed="rId2"/>
          <a:stretch>
            <a:fillRect/>
          </a:stretch>
        </p:blipFill>
        <p:spPr>
          <a:xfrm>
            <a:off x="155248" y="1652428"/>
            <a:ext cx="5498300" cy="4524315"/>
          </a:xfrm>
          <a:prstGeom prst="rect">
            <a:avLst/>
          </a:prstGeom>
          <a:ln>
            <a:solidFill>
              <a:schemeClr val="tx2">
                <a:lumMod val="60000"/>
                <a:lumOff val="40000"/>
              </a:schemeClr>
            </a:solidFill>
          </a:ln>
        </p:spPr>
      </p:pic>
      <p:sp>
        <p:nvSpPr>
          <p:cNvPr id="4" name="TextBox 3">
            <a:extLst>
              <a:ext uri="{FF2B5EF4-FFF2-40B4-BE49-F238E27FC236}">
                <a16:creationId xmlns:a16="http://schemas.microsoft.com/office/drawing/2014/main" id="{94AE5299-1288-6B39-1D1D-45DFEEF62394}"/>
              </a:ext>
            </a:extLst>
          </p:cNvPr>
          <p:cNvSpPr txBox="1"/>
          <p:nvPr/>
        </p:nvSpPr>
        <p:spPr>
          <a:xfrm>
            <a:off x="1071716" y="0"/>
            <a:ext cx="6813755" cy="1200329"/>
          </a:xfrm>
          <a:prstGeom prst="rect">
            <a:avLst/>
          </a:prstGeom>
          <a:noFill/>
        </p:spPr>
        <p:txBody>
          <a:bodyPr wrap="square" rtlCol="0">
            <a:spAutoFit/>
          </a:bodyPr>
          <a:lstStyle/>
          <a:p>
            <a:pPr algn="ctr"/>
            <a:r>
              <a:rPr lang="en-US" sz="7200" b="1" dirty="0">
                <a:solidFill>
                  <a:schemeClr val="accent5">
                    <a:lumMod val="60000"/>
                    <a:lumOff val="40000"/>
                  </a:schemeClr>
                </a:solidFill>
              </a:rPr>
              <a:t>OBJECTIVES</a:t>
            </a:r>
            <a:endParaRPr lang="en-IN" sz="7200" b="1" dirty="0">
              <a:solidFill>
                <a:schemeClr val="accent5">
                  <a:lumMod val="60000"/>
                  <a:lumOff val="40000"/>
                </a:schemeClr>
              </a:solidFill>
            </a:endParaRPr>
          </a:p>
        </p:txBody>
      </p:sp>
      <p:sp>
        <p:nvSpPr>
          <p:cNvPr id="5" name="TextBox 4">
            <a:extLst>
              <a:ext uri="{FF2B5EF4-FFF2-40B4-BE49-F238E27FC236}">
                <a16:creationId xmlns:a16="http://schemas.microsoft.com/office/drawing/2014/main" id="{43A9EEB4-B21E-84E0-6C94-1577A60A640D}"/>
              </a:ext>
            </a:extLst>
          </p:cNvPr>
          <p:cNvSpPr txBox="1"/>
          <p:nvPr/>
        </p:nvSpPr>
        <p:spPr>
          <a:xfrm>
            <a:off x="5732206" y="1652428"/>
            <a:ext cx="3165987" cy="4524315"/>
          </a:xfrm>
          <a:prstGeom prst="rect">
            <a:avLst/>
          </a:prstGeom>
          <a:noFill/>
        </p:spPr>
        <p:txBody>
          <a:bodyPr wrap="square" rtlCol="0">
            <a:spAutoFit/>
          </a:bodyPr>
          <a:lstStyle/>
          <a:p>
            <a:pPr marL="285750" indent="-285750">
              <a:buFont typeface="Wingdings" panose="05000000000000000000" pitchFamily="2" charset="2"/>
              <a:buChar char="q"/>
            </a:pPr>
            <a:r>
              <a:rPr lang="en-US" sz="2400" b="1" dirty="0">
                <a:solidFill>
                  <a:schemeClr val="accent5">
                    <a:lumMod val="60000"/>
                    <a:lumOff val="40000"/>
                  </a:schemeClr>
                </a:solidFill>
              </a:rPr>
              <a:t>Perform Exploratory Data Analysis (EDA) on survey data.</a:t>
            </a:r>
          </a:p>
          <a:p>
            <a:pPr marL="285750" indent="-285750">
              <a:buFont typeface="Wingdings" panose="05000000000000000000" pitchFamily="2" charset="2"/>
              <a:buChar char="q"/>
            </a:pPr>
            <a:r>
              <a:rPr lang="en-US" sz="2400" b="1" dirty="0">
                <a:solidFill>
                  <a:schemeClr val="accent5">
                    <a:lumMod val="60000"/>
                    <a:lumOff val="40000"/>
                  </a:schemeClr>
                </a:solidFill>
              </a:rPr>
              <a:t>Identify satisfaction levels and key influencing factors.</a:t>
            </a:r>
          </a:p>
          <a:p>
            <a:pPr marL="285750" indent="-285750">
              <a:buFont typeface="Wingdings" panose="05000000000000000000" pitchFamily="2" charset="2"/>
              <a:buChar char="q"/>
            </a:pPr>
            <a:r>
              <a:rPr lang="en-US" sz="2400" b="1" dirty="0">
                <a:solidFill>
                  <a:schemeClr val="accent5">
                    <a:lumMod val="60000"/>
                    <a:lumOff val="40000"/>
                  </a:schemeClr>
                </a:solidFill>
              </a:rPr>
              <a:t>Visualize results through charts and summaries.</a:t>
            </a:r>
          </a:p>
          <a:p>
            <a:pPr marL="285750" indent="-285750">
              <a:buFont typeface="Wingdings" panose="05000000000000000000" pitchFamily="2" charset="2"/>
              <a:buChar char="q"/>
            </a:pPr>
            <a:r>
              <a:rPr lang="en-US" sz="2400" b="1" dirty="0">
                <a:solidFill>
                  <a:schemeClr val="accent5">
                    <a:lumMod val="60000"/>
                    <a:lumOff val="40000"/>
                  </a:schemeClr>
                </a:solidFill>
              </a:rPr>
              <a:t>Support HR decisions with clear </a:t>
            </a:r>
            <a:r>
              <a:rPr lang="en-US" sz="2400" b="1" dirty="0" err="1">
                <a:solidFill>
                  <a:schemeClr val="accent5">
                    <a:lumMod val="60000"/>
                    <a:lumOff val="40000"/>
                  </a:schemeClr>
                </a:solidFill>
              </a:rPr>
              <a:t>insigh</a:t>
            </a:r>
            <a:endParaRPr lang="en-US" sz="2400" b="1" dirty="0">
              <a:solidFill>
                <a:schemeClr val="accent5">
                  <a:lumMod val="60000"/>
                  <a:lumOff val="40000"/>
                </a:schemeClr>
              </a:solidFill>
            </a:endParaRPr>
          </a:p>
          <a:p>
            <a:endParaRPr lang="en-IN" sz="2400" dirty="0">
              <a:solidFill>
                <a:schemeClr val="accent5">
                  <a:lumMod val="60000"/>
                  <a:lumOff val="40000"/>
                </a:schemeClr>
              </a:solidFill>
            </a:endParaRPr>
          </a:p>
        </p:txBody>
      </p:sp>
    </p:spTree>
    <p:extLst>
      <p:ext uri="{BB962C8B-B14F-4D97-AF65-F5344CB8AC3E}">
        <p14:creationId xmlns:p14="http://schemas.microsoft.com/office/powerpoint/2010/main" val="1986511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p:cNvGrpSpPr/>
        <p:nvPr/>
      </p:nvGrpSpPr>
      <p:grpSpPr>
        <a:xfrm>
          <a:off x="0" y="0"/>
          <a:ext cx="0" cy="0"/>
          <a:chOff x="0" y="0"/>
          <a:chExt cx="0" cy="0"/>
        </a:xfrm>
      </p:grpSpPr>
      <p:pic>
        <p:nvPicPr>
          <p:cNvPr id="64" name="Picture 63" descr="A diagram of a flowchart&#10;&#10;AI-generated content may be incorrect.">
            <a:extLst>
              <a:ext uri="{FF2B5EF4-FFF2-40B4-BE49-F238E27FC236}">
                <a16:creationId xmlns:a16="http://schemas.microsoft.com/office/drawing/2014/main" id="{935432DE-5807-82C5-DA3F-31F717E38B69}"/>
              </a:ext>
            </a:extLst>
          </p:cNvPr>
          <p:cNvPicPr>
            <a:picLocks noChangeAspect="1"/>
          </p:cNvPicPr>
          <p:nvPr/>
        </p:nvPicPr>
        <p:blipFill>
          <a:blip r:embed="rId2"/>
          <a:stretch>
            <a:fillRect/>
          </a:stretch>
        </p:blipFill>
        <p:spPr>
          <a:xfrm>
            <a:off x="406400" y="2371090"/>
            <a:ext cx="8453120" cy="4486910"/>
          </a:xfrm>
          <a:prstGeom prst="rect">
            <a:avLst/>
          </a:prstGeom>
        </p:spPr>
      </p:pic>
      <p:sp>
        <p:nvSpPr>
          <p:cNvPr id="65" name="TextBox 64">
            <a:extLst>
              <a:ext uri="{FF2B5EF4-FFF2-40B4-BE49-F238E27FC236}">
                <a16:creationId xmlns:a16="http://schemas.microsoft.com/office/drawing/2014/main" id="{94C7F072-C984-7827-F03E-0E9FF7E94405}"/>
              </a:ext>
            </a:extLst>
          </p:cNvPr>
          <p:cNvSpPr txBox="1"/>
          <p:nvPr/>
        </p:nvSpPr>
        <p:spPr>
          <a:xfrm>
            <a:off x="766916" y="30290"/>
            <a:ext cx="7610168" cy="1200329"/>
          </a:xfrm>
          <a:prstGeom prst="rect">
            <a:avLst/>
          </a:prstGeom>
          <a:noFill/>
        </p:spPr>
        <p:txBody>
          <a:bodyPr wrap="square" rtlCol="0">
            <a:spAutoFit/>
          </a:bodyPr>
          <a:lstStyle/>
          <a:p>
            <a:pPr algn="ctr"/>
            <a:r>
              <a:rPr lang="en-US" sz="7200" b="1" dirty="0">
                <a:solidFill>
                  <a:schemeClr val="accent5">
                    <a:lumMod val="60000"/>
                    <a:lumOff val="40000"/>
                  </a:schemeClr>
                </a:solidFill>
              </a:rPr>
              <a:t>Scope Of Project</a:t>
            </a:r>
            <a:endParaRPr lang="en-IN" sz="7200" b="1" dirty="0">
              <a:solidFill>
                <a:schemeClr val="accent5">
                  <a:lumMod val="60000"/>
                  <a:lumOff val="40000"/>
                </a:schemeClr>
              </a:solidFill>
            </a:endParaRPr>
          </a:p>
        </p:txBody>
      </p:sp>
      <p:sp>
        <p:nvSpPr>
          <p:cNvPr id="66" name="TextBox 65">
            <a:extLst>
              <a:ext uri="{FF2B5EF4-FFF2-40B4-BE49-F238E27FC236}">
                <a16:creationId xmlns:a16="http://schemas.microsoft.com/office/drawing/2014/main" id="{D376BE61-5A31-9DD1-F11A-9FBBA42F696E}"/>
              </a:ext>
            </a:extLst>
          </p:cNvPr>
          <p:cNvSpPr txBox="1"/>
          <p:nvPr/>
        </p:nvSpPr>
        <p:spPr>
          <a:xfrm>
            <a:off x="579120" y="1230619"/>
            <a:ext cx="7985760" cy="1015663"/>
          </a:xfrm>
          <a:prstGeom prst="rect">
            <a:avLst/>
          </a:prstGeom>
          <a:noFill/>
        </p:spPr>
        <p:txBody>
          <a:bodyPr wrap="square" rtlCol="0">
            <a:spAutoFit/>
          </a:bodyPr>
          <a:lstStyle/>
          <a:p>
            <a:r>
              <a:rPr lang="en-US" sz="2000" dirty="0">
                <a:solidFill>
                  <a:schemeClr val="accent5">
                    <a:lumMod val="40000"/>
                    <a:lumOff val="60000"/>
                  </a:schemeClr>
                </a:solidFill>
              </a:rPr>
              <a:t>This project focuses on data cleaning, analysis, and visualization of employee survey </a:t>
            </a:r>
            <a:r>
              <a:rPr lang="en-US" sz="2000" dirty="0" err="1">
                <a:solidFill>
                  <a:schemeClr val="accent5">
                    <a:lumMod val="40000"/>
                    <a:lumOff val="60000"/>
                  </a:schemeClr>
                </a:solidFill>
              </a:rPr>
              <a:t>results.It</a:t>
            </a:r>
            <a:r>
              <a:rPr lang="en-US" sz="2000" dirty="0">
                <a:solidFill>
                  <a:schemeClr val="accent5">
                    <a:lumMod val="40000"/>
                    <a:lumOff val="60000"/>
                  </a:schemeClr>
                </a:solidFill>
              </a:rPr>
              <a:t> excludes predictive modeling and focuses only on EDA and reporting.</a:t>
            </a:r>
            <a:endParaRPr lang="en-IN" sz="2000" dirty="0">
              <a:solidFill>
                <a:schemeClr val="accent5">
                  <a:lumMod val="40000"/>
                  <a:lumOff val="6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p:cNvGrpSpPr/>
        <p:nvPr/>
      </p:nvGrpSpPr>
      <p:grpSpPr>
        <a:xfrm>
          <a:off x="0" y="0"/>
          <a:ext cx="0" cy="0"/>
          <a:chOff x="0" y="0"/>
          <a:chExt cx="0" cy="0"/>
        </a:xfrm>
      </p:grpSpPr>
      <p:pic>
        <p:nvPicPr>
          <p:cNvPr id="24" name="Picture 23" descr="A diagram of data processing&#10;&#10;AI-generated content may be incorrect.">
            <a:extLst>
              <a:ext uri="{FF2B5EF4-FFF2-40B4-BE49-F238E27FC236}">
                <a16:creationId xmlns:a16="http://schemas.microsoft.com/office/drawing/2014/main" id="{7366EE8B-247B-E910-52E2-02A95B93E7DE}"/>
              </a:ext>
            </a:extLst>
          </p:cNvPr>
          <p:cNvPicPr>
            <a:picLocks noChangeAspect="1"/>
          </p:cNvPicPr>
          <p:nvPr/>
        </p:nvPicPr>
        <p:blipFill>
          <a:blip r:embed="rId2"/>
          <a:stretch>
            <a:fillRect/>
          </a:stretch>
        </p:blipFill>
        <p:spPr>
          <a:xfrm>
            <a:off x="0" y="630454"/>
            <a:ext cx="9144000" cy="5857875"/>
          </a:xfrm>
          <a:prstGeom prst="rect">
            <a:avLst/>
          </a:prstGeom>
        </p:spPr>
      </p:pic>
      <p:sp>
        <p:nvSpPr>
          <p:cNvPr id="25" name="TextBox 24">
            <a:extLst>
              <a:ext uri="{FF2B5EF4-FFF2-40B4-BE49-F238E27FC236}">
                <a16:creationId xmlns:a16="http://schemas.microsoft.com/office/drawing/2014/main" id="{20274B3D-4448-2DD0-F5E5-04ED191F19E2}"/>
              </a:ext>
            </a:extLst>
          </p:cNvPr>
          <p:cNvSpPr txBox="1"/>
          <p:nvPr/>
        </p:nvSpPr>
        <p:spPr>
          <a:xfrm>
            <a:off x="766916" y="30290"/>
            <a:ext cx="7610168" cy="1200329"/>
          </a:xfrm>
          <a:prstGeom prst="rect">
            <a:avLst/>
          </a:prstGeom>
          <a:noFill/>
        </p:spPr>
        <p:txBody>
          <a:bodyPr wrap="square" rtlCol="0">
            <a:spAutoFit/>
          </a:bodyPr>
          <a:lstStyle/>
          <a:p>
            <a:pPr algn="ctr"/>
            <a:r>
              <a:rPr lang="en-US" sz="7200" b="1" dirty="0">
                <a:solidFill>
                  <a:schemeClr val="accent5">
                    <a:lumMod val="60000"/>
                    <a:lumOff val="40000"/>
                  </a:schemeClr>
                </a:solidFill>
              </a:rPr>
              <a:t>Process Of Project</a:t>
            </a:r>
            <a:endParaRPr lang="en-IN" sz="7200" b="1" dirty="0">
              <a:solidFill>
                <a:schemeClr val="accent5">
                  <a:lumMod val="60000"/>
                  <a:lumOff val="4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p:cNvGrpSpPr/>
        <p:nvPr/>
      </p:nvGrpSpPr>
      <p:grpSpPr>
        <a:xfrm>
          <a:off x="0" y="0"/>
          <a:ext cx="0" cy="0"/>
          <a:chOff x="0" y="0"/>
          <a:chExt cx="0" cy="0"/>
        </a:xfrm>
      </p:grpSpPr>
      <p:pic>
        <p:nvPicPr>
          <p:cNvPr id="28" name="Picture 27" descr="A diagram of a process&#10;&#10;AI-generated content may be incorrect.">
            <a:extLst>
              <a:ext uri="{FF2B5EF4-FFF2-40B4-BE49-F238E27FC236}">
                <a16:creationId xmlns:a16="http://schemas.microsoft.com/office/drawing/2014/main" id="{FCCEE85C-4EEC-A188-62BC-1A340EC04FFC}"/>
              </a:ext>
            </a:extLst>
          </p:cNvPr>
          <p:cNvPicPr>
            <a:picLocks noChangeAspect="1"/>
          </p:cNvPicPr>
          <p:nvPr/>
        </p:nvPicPr>
        <p:blipFill>
          <a:blip r:embed="rId2"/>
          <a:stretch>
            <a:fillRect/>
          </a:stretch>
        </p:blipFill>
        <p:spPr>
          <a:xfrm>
            <a:off x="-81280" y="1876056"/>
            <a:ext cx="9144000" cy="5491392"/>
          </a:xfrm>
          <a:prstGeom prst="rect">
            <a:avLst/>
          </a:prstGeom>
        </p:spPr>
      </p:pic>
      <p:sp>
        <p:nvSpPr>
          <p:cNvPr id="31" name="TextBox 30">
            <a:extLst>
              <a:ext uri="{FF2B5EF4-FFF2-40B4-BE49-F238E27FC236}">
                <a16:creationId xmlns:a16="http://schemas.microsoft.com/office/drawing/2014/main" id="{DFE12E39-30D6-DF15-A383-AEB01830EAA1}"/>
              </a:ext>
            </a:extLst>
          </p:cNvPr>
          <p:cNvSpPr txBox="1"/>
          <p:nvPr/>
        </p:nvSpPr>
        <p:spPr>
          <a:xfrm>
            <a:off x="766916" y="30290"/>
            <a:ext cx="7610168" cy="1631216"/>
          </a:xfrm>
          <a:prstGeom prst="rect">
            <a:avLst/>
          </a:prstGeom>
          <a:noFill/>
        </p:spPr>
        <p:txBody>
          <a:bodyPr wrap="square" rtlCol="0">
            <a:spAutoFit/>
          </a:bodyPr>
          <a:lstStyle/>
          <a:p>
            <a:pPr algn="ctr"/>
            <a:r>
              <a:rPr lang="en-US" sz="5000" b="1" dirty="0">
                <a:solidFill>
                  <a:schemeClr val="accent5">
                    <a:lumMod val="60000"/>
                    <a:lumOff val="40000"/>
                  </a:schemeClr>
                </a:solidFill>
              </a:rPr>
              <a:t>Software Requirement Specification</a:t>
            </a:r>
            <a:endParaRPr lang="en-IN" sz="5000" b="1" dirty="0">
              <a:solidFill>
                <a:schemeClr val="accent5">
                  <a:lumMod val="60000"/>
                  <a:lumOff val="40000"/>
                </a:schemeClr>
              </a:solidFill>
            </a:endParaRPr>
          </a:p>
        </p:txBody>
      </p:sp>
      <p:sp>
        <p:nvSpPr>
          <p:cNvPr id="32" name="TextBox 31">
            <a:extLst>
              <a:ext uri="{FF2B5EF4-FFF2-40B4-BE49-F238E27FC236}">
                <a16:creationId xmlns:a16="http://schemas.microsoft.com/office/drawing/2014/main" id="{26C7033C-E699-0132-002F-ECAE4DDD7F92}"/>
              </a:ext>
            </a:extLst>
          </p:cNvPr>
          <p:cNvSpPr txBox="1"/>
          <p:nvPr/>
        </p:nvSpPr>
        <p:spPr>
          <a:xfrm>
            <a:off x="685636" y="1747330"/>
            <a:ext cx="7610168" cy="553998"/>
          </a:xfrm>
          <a:prstGeom prst="rect">
            <a:avLst/>
          </a:prstGeom>
          <a:noFill/>
        </p:spPr>
        <p:txBody>
          <a:bodyPr wrap="square" rtlCol="0">
            <a:spAutoFit/>
          </a:bodyPr>
          <a:lstStyle/>
          <a:p>
            <a:r>
              <a:rPr lang="en-US" sz="3000" b="1" dirty="0">
                <a:solidFill>
                  <a:schemeClr val="accent5">
                    <a:lumMod val="60000"/>
                    <a:lumOff val="40000"/>
                  </a:schemeClr>
                </a:solidFill>
              </a:rPr>
              <a:t>1. Functional Requirement</a:t>
            </a:r>
            <a:endParaRPr lang="en-IN" sz="3000" b="1" dirty="0">
              <a:solidFill>
                <a:schemeClr val="accent5">
                  <a:lumMod val="60000"/>
                  <a:lumOff val="4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p:cNvGrpSpPr/>
        <p:nvPr/>
      </p:nvGrpSpPr>
      <p:grpSpPr>
        <a:xfrm>
          <a:off x="0" y="0"/>
          <a:ext cx="0" cy="0"/>
          <a:chOff x="0" y="0"/>
          <a:chExt cx="0" cy="0"/>
        </a:xfrm>
      </p:grpSpPr>
      <p:pic>
        <p:nvPicPr>
          <p:cNvPr id="61" name="Picture 60" descr="A diagram of a blue umbrella&#10;&#10;AI-generated content may be incorrect.">
            <a:extLst>
              <a:ext uri="{FF2B5EF4-FFF2-40B4-BE49-F238E27FC236}">
                <a16:creationId xmlns:a16="http://schemas.microsoft.com/office/drawing/2014/main" id="{0EB59659-F039-07B6-9005-6F67CFFF9BA2}"/>
              </a:ext>
            </a:extLst>
          </p:cNvPr>
          <p:cNvPicPr>
            <a:picLocks noChangeAspect="1"/>
          </p:cNvPicPr>
          <p:nvPr/>
        </p:nvPicPr>
        <p:blipFill>
          <a:blip r:embed="rId2"/>
          <a:stretch>
            <a:fillRect/>
          </a:stretch>
        </p:blipFill>
        <p:spPr>
          <a:xfrm>
            <a:off x="1339669" y="2326128"/>
            <a:ext cx="6464662" cy="4623311"/>
          </a:xfrm>
          <a:prstGeom prst="rect">
            <a:avLst/>
          </a:prstGeom>
        </p:spPr>
      </p:pic>
      <p:sp>
        <p:nvSpPr>
          <p:cNvPr id="63" name="TextBox 62">
            <a:extLst>
              <a:ext uri="{FF2B5EF4-FFF2-40B4-BE49-F238E27FC236}">
                <a16:creationId xmlns:a16="http://schemas.microsoft.com/office/drawing/2014/main" id="{1D7E8B7F-57FE-B053-AC0F-7E130F8D9BB2}"/>
              </a:ext>
            </a:extLst>
          </p:cNvPr>
          <p:cNvSpPr txBox="1"/>
          <p:nvPr/>
        </p:nvSpPr>
        <p:spPr>
          <a:xfrm>
            <a:off x="766916" y="30290"/>
            <a:ext cx="7610168" cy="1631216"/>
          </a:xfrm>
          <a:prstGeom prst="rect">
            <a:avLst/>
          </a:prstGeom>
          <a:noFill/>
        </p:spPr>
        <p:txBody>
          <a:bodyPr wrap="square" rtlCol="0">
            <a:spAutoFit/>
          </a:bodyPr>
          <a:lstStyle/>
          <a:p>
            <a:pPr algn="ctr"/>
            <a:r>
              <a:rPr lang="en-US" sz="5000" b="1" dirty="0">
                <a:solidFill>
                  <a:schemeClr val="accent5">
                    <a:lumMod val="60000"/>
                    <a:lumOff val="40000"/>
                  </a:schemeClr>
                </a:solidFill>
              </a:rPr>
              <a:t>Software Requirement Specification</a:t>
            </a:r>
            <a:endParaRPr lang="en-IN" sz="5000" b="1" dirty="0">
              <a:solidFill>
                <a:schemeClr val="accent5">
                  <a:lumMod val="60000"/>
                  <a:lumOff val="40000"/>
                </a:schemeClr>
              </a:solidFill>
            </a:endParaRPr>
          </a:p>
        </p:txBody>
      </p:sp>
      <p:sp>
        <p:nvSpPr>
          <p:cNvPr id="64" name="TextBox 63">
            <a:extLst>
              <a:ext uri="{FF2B5EF4-FFF2-40B4-BE49-F238E27FC236}">
                <a16:creationId xmlns:a16="http://schemas.microsoft.com/office/drawing/2014/main" id="{ED73E083-6DD4-685F-445B-9010472EF8B5}"/>
              </a:ext>
            </a:extLst>
          </p:cNvPr>
          <p:cNvSpPr txBox="1"/>
          <p:nvPr/>
        </p:nvSpPr>
        <p:spPr>
          <a:xfrm>
            <a:off x="685636" y="1747330"/>
            <a:ext cx="7610168" cy="553998"/>
          </a:xfrm>
          <a:prstGeom prst="rect">
            <a:avLst/>
          </a:prstGeom>
          <a:noFill/>
        </p:spPr>
        <p:txBody>
          <a:bodyPr wrap="square" rtlCol="0">
            <a:spAutoFit/>
          </a:bodyPr>
          <a:lstStyle/>
          <a:p>
            <a:r>
              <a:rPr lang="en-US" sz="3000" b="1" dirty="0">
                <a:solidFill>
                  <a:schemeClr val="accent5">
                    <a:lumMod val="60000"/>
                    <a:lumOff val="40000"/>
                  </a:schemeClr>
                </a:solidFill>
              </a:rPr>
              <a:t>2. Non Functional Requirement</a:t>
            </a:r>
            <a:endParaRPr lang="en-IN" sz="3000" b="1" dirty="0">
              <a:solidFill>
                <a:schemeClr val="accent5">
                  <a:lumMod val="60000"/>
                  <a:lumOff val="4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p:cNvGrpSpPr/>
        <p:nvPr/>
      </p:nvGrpSpPr>
      <p:grpSpPr>
        <a:xfrm>
          <a:off x="0" y="0"/>
          <a:ext cx="0" cy="0"/>
          <a:chOff x="0" y="0"/>
          <a:chExt cx="0" cy="0"/>
        </a:xfrm>
      </p:grpSpPr>
      <p:sp>
        <p:nvSpPr>
          <p:cNvPr id="54" name="TextBox 53">
            <a:extLst>
              <a:ext uri="{FF2B5EF4-FFF2-40B4-BE49-F238E27FC236}">
                <a16:creationId xmlns:a16="http://schemas.microsoft.com/office/drawing/2014/main" id="{93765819-6589-FA92-B22B-1B84AC0EE571}"/>
              </a:ext>
            </a:extLst>
          </p:cNvPr>
          <p:cNvSpPr txBox="1"/>
          <p:nvPr/>
        </p:nvSpPr>
        <p:spPr>
          <a:xfrm>
            <a:off x="766916" y="30290"/>
            <a:ext cx="7610168" cy="1631216"/>
          </a:xfrm>
          <a:prstGeom prst="rect">
            <a:avLst/>
          </a:prstGeom>
          <a:noFill/>
        </p:spPr>
        <p:txBody>
          <a:bodyPr wrap="square" rtlCol="0">
            <a:spAutoFit/>
          </a:bodyPr>
          <a:lstStyle/>
          <a:p>
            <a:pPr algn="ctr"/>
            <a:r>
              <a:rPr lang="en-US" sz="5000" b="1" dirty="0">
                <a:solidFill>
                  <a:schemeClr val="accent5">
                    <a:lumMod val="60000"/>
                    <a:lumOff val="40000"/>
                  </a:schemeClr>
                </a:solidFill>
              </a:rPr>
              <a:t>Software Requirement Specification</a:t>
            </a:r>
            <a:endParaRPr lang="en-IN" sz="5000" b="1" dirty="0">
              <a:solidFill>
                <a:schemeClr val="accent5">
                  <a:lumMod val="60000"/>
                  <a:lumOff val="40000"/>
                </a:schemeClr>
              </a:solidFill>
            </a:endParaRPr>
          </a:p>
        </p:txBody>
      </p:sp>
      <p:pic>
        <p:nvPicPr>
          <p:cNvPr id="56" name="Picture 55" descr="A screenshot of a computer&#10;&#10;AI-generated content may be incorrect.">
            <a:extLst>
              <a:ext uri="{FF2B5EF4-FFF2-40B4-BE49-F238E27FC236}">
                <a16:creationId xmlns:a16="http://schemas.microsoft.com/office/drawing/2014/main" id="{3479EDF8-C449-3243-A11D-C3253BBD8584}"/>
              </a:ext>
            </a:extLst>
          </p:cNvPr>
          <p:cNvPicPr>
            <a:picLocks noChangeAspect="1"/>
          </p:cNvPicPr>
          <p:nvPr/>
        </p:nvPicPr>
        <p:blipFill>
          <a:blip r:embed="rId2"/>
          <a:stretch>
            <a:fillRect/>
          </a:stretch>
        </p:blipFill>
        <p:spPr>
          <a:xfrm>
            <a:off x="1371600" y="2227580"/>
            <a:ext cx="6400800" cy="4495800"/>
          </a:xfrm>
          <a:prstGeom prst="rect">
            <a:avLst/>
          </a:prstGeom>
        </p:spPr>
      </p:pic>
      <p:sp>
        <p:nvSpPr>
          <p:cNvPr id="57" name="TextBox 56">
            <a:extLst>
              <a:ext uri="{FF2B5EF4-FFF2-40B4-BE49-F238E27FC236}">
                <a16:creationId xmlns:a16="http://schemas.microsoft.com/office/drawing/2014/main" id="{D9563FB5-FBC6-F907-211E-74CA68BF4D53}"/>
              </a:ext>
            </a:extLst>
          </p:cNvPr>
          <p:cNvSpPr txBox="1"/>
          <p:nvPr/>
        </p:nvSpPr>
        <p:spPr>
          <a:xfrm>
            <a:off x="685636" y="1747330"/>
            <a:ext cx="7610168" cy="553998"/>
          </a:xfrm>
          <a:prstGeom prst="rect">
            <a:avLst/>
          </a:prstGeom>
          <a:noFill/>
        </p:spPr>
        <p:txBody>
          <a:bodyPr wrap="square" rtlCol="0">
            <a:spAutoFit/>
          </a:bodyPr>
          <a:lstStyle/>
          <a:p>
            <a:r>
              <a:rPr lang="en-US" sz="3000" b="1" dirty="0">
                <a:solidFill>
                  <a:schemeClr val="accent5">
                    <a:lumMod val="60000"/>
                    <a:lumOff val="40000"/>
                  </a:schemeClr>
                </a:solidFill>
              </a:rPr>
              <a:t>3. Tool Used</a:t>
            </a:r>
            <a:endParaRPr lang="en-IN" sz="3000" b="1" dirty="0">
              <a:solidFill>
                <a:schemeClr val="accent5">
                  <a:lumMod val="60000"/>
                  <a:lumOff val="4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p:cNvGrpSpPr/>
        <p:nvPr/>
      </p:nvGrpSpPr>
      <p:grpSpPr>
        <a:xfrm>
          <a:off x="0" y="0"/>
          <a:ext cx="0" cy="0"/>
          <a:chOff x="0" y="0"/>
          <a:chExt cx="0" cy="0"/>
        </a:xfrm>
      </p:grpSpPr>
      <p:pic>
        <p:nvPicPr>
          <p:cNvPr id="49" name="Picture 48" descr="A diagram of a diagram&#10;&#10;AI-generated content may be incorrect.">
            <a:extLst>
              <a:ext uri="{FF2B5EF4-FFF2-40B4-BE49-F238E27FC236}">
                <a16:creationId xmlns:a16="http://schemas.microsoft.com/office/drawing/2014/main" id="{C7B77781-CC1E-A6CA-0DFD-237CA49C9E84}"/>
              </a:ext>
            </a:extLst>
          </p:cNvPr>
          <p:cNvPicPr>
            <a:picLocks noChangeAspect="1"/>
          </p:cNvPicPr>
          <p:nvPr/>
        </p:nvPicPr>
        <p:blipFill>
          <a:blip r:embed="rId2"/>
          <a:stretch>
            <a:fillRect/>
          </a:stretch>
        </p:blipFill>
        <p:spPr>
          <a:xfrm>
            <a:off x="4145281" y="1230619"/>
            <a:ext cx="4744720" cy="5299297"/>
          </a:xfrm>
          <a:prstGeom prst="rect">
            <a:avLst/>
          </a:prstGeom>
        </p:spPr>
      </p:pic>
      <p:sp>
        <p:nvSpPr>
          <p:cNvPr id="50" name="TextBox 49">
            <a:extLst>
              <a:ext uri="{FF2B5EF4-FFF2-40B4-BE49-F238E27FC236}">
                <a16:creationId xmlns:a16="http://schemas.microsoft.com/office/drawing/2014/main" id="{7712F413-812B-F5F2-1A7E-E159D719A7BE}"/>
              </a:ext>
            </a:extLst>
          </p:cNvPr>
          <p:cNvSpPr txBox="1"/>
          <p:nvPr/>
        </p:nvSpPr>
        <p:spPr>
          <a:xfrm>
            <a:off x="253999" y="1410360"/>
            <a:ext cx="3545841" cy="4939814"/>
          </a:xfrm>
          <a:prstGeom prst="rect">
            <a:avLst/>
          </a:prstGeom>
          <a:noFill/>
        </p:spPr>
        <p:txBody>
          <a:bodyPr wrap="square" rtlCol="0">
            <a:spAutoFit/>
          </a:bodyPr>
          <a:lstStyle/>
          <a:p>
            <a:pPr marL="285750" indent="-285750">
              <a:buFont typeface="Wingdings" panose="05000000000000000000" pitchFamily="2" charset="2"/>
              <a:buChar char="q"/>
            </a:pPr>
            <a:r>
              <a:rPr lang="en-US" sz="2100" b="1" dirty="0">
                <a:solidFill>
                  <a:schemeClr val="accent5">
                    <a:lumMod val="60000"/>
                    <a:lumOff val="40000"/>
                  </a:schemeClr>
                </a:solidFill>
              </a:rPr>
              <a:t>Integration with HR management systems for real-time analysis.</a:t>
            </a:r>
          </a:p>
          <a:p>
            <a:pPr marL="285750" indent="-285750">
              <a:buFont typeface="Wingdings" panose="05000000000000000000" pitchFamily="2" charset="2"/>
              <a:buChar char="q"/>
            </a:pPr>
            <a:r>
              <a:rPr lang="en-US" sz="2100" b="1" dirty="0">
                <a:solidFill>
                  <a:schemeClr val="accent5">
                    <a:lumMod val="60000"/>
                    <a:lumOff val="40000"/>
                  </a:schemeClr>
                </a:solidFill>
              </a:rPr>
              <a:t>Development of interactive dashboards for continuous monitoring.</a:t>
            </a:r>
          </a:p>
          <a:p>
            <a:pPr marL="285750" indent="-285750">
              <a:buFont typeface="Wingdings" panose="05000000000000000000" pitchFamily="2" charset="2"/>
              <a:buChar char="q"/>
            </a:pPr>
            <a:r>
              <a:rPr lang="en-US" sz="2100" b="1" dirty="0">
                <a:solidFill>
                  <a:schemeClr val="accent5">
                    <a:lumMod val="60000"/>
                    <a:lumOff val="40000"/>
                  </a:schemeClr>
                </a:solidFill>
              </a:rPr>
              <a:t>Addition of automated report generation features.</a:t>
            </a:r>
          </a:p>
          <a:p>
            <a:pPr marL="285750" indent="-285750">
              <a:buFont typeface="Wingdings" panose="05000000000000000000" pitchFamily="2" charset="2"/>
              <a:buChar char="q"/>
            </a:pPr>
            <a:r>
              <a:rPr lang="en-US" sz="2100" b="1" dirty="0">
                <a:solidFill>
                  <a:schemeClr val="accent5">
                    <a:lumMod val="60000"/>
                    <a:lumOff val="40000"/>
                  </a:schemeClr>
                </a:solidFill>
              </a:rPr>
              <a:t>Expansion to include feedback prediction and trend comparison over time.</a:t>
            </a:r>
          </a:p>
          <a:p>
            <a:pPr marL="285750" indent="-285750">
              <a:buFont typeface="Wingdings" panose="05000000000000000000" pitchFamily="2" charset="2"/>
              <a:buChar char="q"/>
            </a:pPr>
            <a:r>
              <a:rPr lang="en-US" sz="2100" b="1" dirty="0">
                <a:solidFill>
                  <a:schemeClr val="accent5">
                    <a:lumMod val="60000"/>
                    <a:lumOff val="40000"/>
                  </a:schemeClr>
                </a:solidFill>
              </a:rPr>
              <a:t>Implementation of cloud-based data storage for easy access and scalability.</a:t>
            </a:r>
            <a:endParaRPr lang="en-IN" sz="2100" b="1" dirty="0">
              <a:solidFill>
                <a:schemeClr val="accent5">
                  <a:lumMod val="60000"/>
                  <a:lumOff val="40000"/>
                </a:schemeClr>
              </a:solidFill>
            </a:endParaRPr>
          </a:p>
        </p:txBody>
      </p:sp>
      <p:sp>
        <p:nvSpPr>
          <p:cNvPr id="51" name="TextBox 50">
            <a:extLst>
              <a:ext uri="{FF2B5EF4-FFF2-40B4-BE49-F238E27FC236}">
                <a16:creationId xmlns:a16="http://schemas.microsoft.com/office/drawing/2014/main" id="{840FD54A-4896-2E82-35DE-C971F6E8F9E6}"/>
              </a:ext>
            </a:extLst>
          </p:cNvPr>
          <p:cNvSpPr txBox="1"/>
          <p:nvPr/>
        </p:nvSpPr>
        <p:spPr>
          <a:xfrm>
            <a:off x="766916" y="30290"/>
            <a:ext cx="7610168" cy="1200329"/>
          </a:xfrm>
          <a:prstGeom prst="rect">
            <a:avLst/>
          </a:prstGeom>
          <a:noFill/>
        </p:spPr>
        <p:txBody>
          <a:bodyPr wrap="square" rtlCol="0">
            <a:spAutoFit/>
          </a:bodyPr>
          <a:lstStyle/>
          <a:p>
            <a:pPr algn="ctr"/>
            <a:r>
              <a:rPr lang="en-US" sz="7200" b="1" dirty="0">
                <a:solidFill>
                  <a:schemeClr val="accent5">
                    <a:lumMod val="60000"/>
                    <a:lumOff val="40000"/>
                  </a:schemeClr>
                </a:solidFill>
              </a:rPr>
              <a:t>Future Scope</a:t>
            </a:r>
            <a:endParaRPr lang="en-IN" sz="7200" b="1" dirty="0">
              <a:solidFill>
                <a:schemeClr val="accent5">
                  <a:lumMod val="60000"/>
                  <a:lumOff val="4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69BB9F26-94EF-2050-FFD6-F3B4B63FB922}"/>
              </a:ext>
            </a:extLst>
          </p:cNvPr>
          <p:cNvSpPr txBox="1"/>
          <p:nvPr/>
        </p:nvSpPr>
        <p:spPr>
          <a:xfrm>
            <a:off x="766916" y="30290"/>
            <a:ext cx="7610168" cy="1200329"/>
          </a:xfrm>
          <a:prstGeom prst="rect">
            <a:avLst/>
          </a:prstGeom>
          <a:noFill/>
        </p:spPr>
        <p:txBody>
          <a:bodyPr wrap="square" rtlCol="0">
            <a:spAutoFit/>
          </a:bodyPr>
          <a:lstStyle/>
          <a:p>
            <a:pPr algn="ctr"/>
            <a:r>
              <a:rPr lang="en-US" sz="7200" b="1" dirty="0">
                <a:solidFill>
                  <a:schemeClr val="tx2">
                    <a:lumMod val="20000"/>
                    <a:lumOff val="80000"/>
                  </a:schemeClr>
                </a:solidFill>
              </a:rPr>
              <a:t>Expected Outcome</a:t>
            </a:r>
            <a:endParaRPr lang="en-IN" sz="7200" b="1" dirty="0">
              <a:solidFill>
                <a:schemeClr val="tx2">
                  <a:lumMod val="20000"/>
                  <a:lumOff val="80000"/>
                </a:schemeClr>
              </a:solidFill>
            </a:endParaRPr>
          </a:p>
        </p:txBody>
      </p:sp>
      <p:pic>
        <p:nvPicPr>
          <p:cNvPr id="25" name="Picture 24" descr="A screenshot of a computer&#10;&#10;AI-generated content may be incorrect.">
            <a:extLst>
              <a:ext uri="{FF2B5EF4-FFF2-40B4-BE49-F238E27FC236}">
                <a16:creationId xmlns:a16="http://schemas.microsoft.com/office/drawing/2014/main" id="{D30D9C15-72F6-6898-6F01-A8698EC55FE4}"/>
              </a:ext>
            </a:extLst>
          </p:cNvPr>
          <p:cNvPicPr>
            <a:picLocks noChangeAspect="1"/>
          </p:cNvPicPr>
          <p:nvPr/>
        </p:nvPicPr>
        <p:blipFill>
          <a:blip r:embed="rId2"/>
          <a:stretch>
            <a:fillRect/>
          </a:stretch>
        </p:blipFill>
        <p:spPr>
          <a:xfrm>
            <a:off x="285750" y="2690177"/>
            <a:ext cx="8572500" cy="3895725"/>
          </a:xfrm>
          <a:prstGeom prst="rect">
            <a:avLst/>
          </a:prstGeom>
        </p:spPr>
      </p:pic>
      <p:sp>
        <p:nvSpPr>
          <p:cNvPr id="32" name="TextBox 31">
            <a:extLst>
              <a:ext uri="{FF2B5EF4-FFF2-40B4-BE49-F238E27FC236}">
                <a16:creationId xmlns:a16="http://schemas.microsoft.com/office/drawing/2014/main" id="{D6CEE729-541B-54EC-29D3-41EFA9E6F786}"/>
              </a:ext>
            </a:extLst>
          </p:cNvPr>
          <p:cNvSpPr txBox="1"/>
          <p:nvPr/>
        </p:nvSpPr>
        <p:spPr>
          <a:xfrm>
            <a:off x="469818" y="1371600"/>
            <a:ext cx="8204364" cy="1838960"/>
          </a:xfrm>
          <a:prstGeom prst="rect">
            <a:avLst/>
          </a:prstGeom>
          <a:noFill/>
        </p:spPr>
        <p:txBody>
          <a:bodyPr wrap="square" rtlCol="0">
            <a:spAutoFit/>
          </a:bodyPr>
          <a:lstStyle/>
          <a:p>
            <a:endParaRPr lang="en-IN" dirty="0"/>
          </a:p>
        </p:txBody>
      </p:sp>
      <p:sp>
        <p:nvSpPr>
          <p:cNvPr id="2" name="TextBox 1">
            <a:extLst>
              <a:ext uri="{FF2B5EF4-FFF2-40B4-BE49-F238E27FC236}">
                <a16:creationId xmlns:a16="http://schemas.microsoft.com/office/drawing/2014/main" id="{28D36CE5-06FD-33CF-7B71-F1CE39BB16FF}"/>
              </a:ext>
            </a:extLst>
          </p:cNvPr>
          <p:cNvSpPr txBox="1"/>
          <p:nvPr/>
        </p:nvSpPr>
        <p:spPr>
          <a:xfrm>
            <a:off x="366983" y="1118859"/>
            <a:ext cx="8410033" cy="2015936"/>
          </a:xfrm>
          <a:prstGeom prst="rect">
            <a:avLst/>
          </a:prstGeom>
          <a:noFill/>
        </p:spPr>
        <p:txBody>
          <a:bodyPr wrap="square" rtlCol="0">
            <a:spAutoFit/>
          </a:bodyPr>
          <a:lstStyle/>
          <a:p>
            <a:pPr marL="285750" indent="-285750">
              <a:buFont typeface="Wingdings" panose="05000000000000000000" pitchFamily="2" charset="2"/>
              <a:buChar char="Ø"/>
            </a:pPr>
            <a:r>
              <a:rPr lang="en-US" sz="2500" dirty="0">
                <a:solidFill>
                  <a:schemeClr val="accent5">
                    <a:lumMod val="60000"/>
                    <a:lumOff val="40000"/>
                  </a:schemeClr>
                </a:solidFill>
              </a:rPr>
              <a:t>A clear summary of employee satisfaction levels.</a:t>
            </a:r>
          </a:p>
          <a:p>
            <a:pPr marL="285750" indent="-285750">
              <a:buFont typeface="Wingdings" panose="05000000000000000000" pitchFamily="2" charset="2"/>
              <a:buChar char="Ø"/>
            </a:pPr>
            <a:r>
              <a:rPr lang="en-US" sz="2500" dirty="0">
                <a:solidFill>
                  <a:schemeClr val="accent5">
                    <a:lumMod val="60000"/>
                    <a:lumOff val="40000"/>
                  </a:schemeClr>
                </a:solidFill>
              </a:rPr>
              <a:t>Visual charts showing trends and key factors affecting satisfaction.</a:t>
            </a:r>
          </a:p>
          <a:p>
            <a:pPr marL="285750" indent="-285750">
              <a:buFont typeface="Wingdings" panose="05000000000000000000" pitchFamily="2" charset="2"/>
              <a:buChar char="Ø"/>
            </a:pPr>
            <a:r>
              <a:rPr lang="en-US" sz="2500" dirty="0">
                <a:solidFill>
                  <a:schemeClr val="accent5">
                    <a:lumMod val="60000"/>
                    <a:lumOff val="40000"/>
                  </a:schemeClr>
                </a:solidFill>
              </a:rPr>
              <a:t>Insights to help management identify improvement areas.</a:t>
            </a:r>
          </a:p>
          <a:p>
            <a:pPr marL="285750" indent="-285750">
              <a:buFont typeface="Wingdings" panose="05000000000000000000" pitchFamily="2" charset="2"/>
              <a:buChar char="Ø"/>
            </a:pPr>
            <a:r>
              <a:rPr lang="en-US" sz="2500" dirty="0">
                <a:solidFill>
                  <a:schemeClr val="accent5">
                    <a:lumMod val="60000"/>
                    <a:lumOff val="40000"/>
                  </a:schemeClr>
                </a:solidFill>
              </a:rPr>
              <a:t>A concise analytical report generated through EDA.</a:t>
            </a:r>
            <a:endParaRPr lang="en-IN" sz="2500" dirty="0">
              <a:solidFill>
                <a:schemeClr val="accent5">
                  <a:lumMod val="60000"/>
                  <a:lumOff val="4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B58"/>
        </a:solidFill>
        <a:effectLst/>
      </p:bgPr>
    </p:bg>
    <p:spTree>
      <p:nvGrpSpPr>
        <p:cNvPr id="1" name="">
          <a:extLst>
            <a:ext uri="{FF2B5EF4-FFF2-40B4-BE49-F238E27FC236}">
              <a16:creationId xmlns:a16="http://schemas.microsoft.com/office/drawing/2014/main" id="{D2884A53-608E-75F8-1095-2D4AF3C8905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1AAE16-4F43-F03E-6EB7-E5DF3B59C556}"/>
              </a:ext>
            </a:extLst>
          </p:cNvPr>
          <p:cNvSpPr txBox="1"/>
          <p:nvPr/>
        </p:nvSpPr>
        <p:spPr>
          <a:xfrm>
            <a:off x="1071716" y="0"/>
            <a:ext cx="6813755" cy="1200329"/>
          </a:xfrm>
          <a:prstGeom prst="rect">
            <a:avLst/>
          </a:prstGeom>
          <a:noFill/>
        </p:spPr>
        <p:txBody>
          <a:bodyPr wrap="square" rtlCol="0">
            <a:spAutoFit/>
          </a:bodyPr>
          <a:lstStyle/>
          <a:p>
            <a:pPr algn="ctr"/>
            <a:r>
              <a:rPr lang="en-US" sz="7200" b="1" dirty="0">
                <a:solidFill>
                  <a:schemeClr val="accent5">
                    <a:lumMod val="60000"/>
                    <a:lumOff val="40000"/>
                  </a:schemeClr>
                </a:solidFill>
              </a:rPr>
              <a:t>Conclusion</a:t>
            </a:r>
            <a:endParaRPr lang="en-IN" sz="7200" b="1" dirty="0">
              <a:solidFill>
                <a:schemeClr val="accent5">
                  <a:lumMod val="60000"/>
                  <a:lumOff val="40000"/>
                </a:schemeClr>
              </a:solidFill>
            </a:endParaRPr>
          </a:p>
        </p:txBody>
      </p:sp>
      <p:sp>
        <p:nvSpPr>
          <p:cNvPr id="2" name="TextBox 1">
            <a:extLst>
              <a:ext uri="{FF2B5EF4-FFF2-40B4-BE49-F238E27FC236}">
                <a16:creationId xmlns:a16="http://schemas.microsoft.com/office/drawing/2014/main" id="{F93EB61A-3DB9-AEEC-555C-50E52160EDF3}"/>
              </a:ext>
            </a:extLst>
          </p:cNvPr>
          <p:cNvSpPr txBox="1"/>
          <p:nvPr/>
        </p:nvSpPr>
        <p:spPr>
          <a:xfrm>
            <a:off x="508000" y="1422400"/>
            <a:ext cx="8128000" cy="2462213"/>
          </a:xfrm>
          <a:prstGeom prst="rect">
            <a:avLst/>
          </a:prstGeom>
          <a:noFill/>
        </p:spPr>
        <p:txBody>
          <a:bodyPr wrap="square" rtlCol="0">
            <a:spAutoFit/>
          </a:bodyPr>
          <a:lstStyle/>
          <a:p>
            <a:r>
              <a:rPr lang="en-US" sz="2200" dirty="0">
                <a:solidFill>
                  <a:schemeClr val="accent5">
                    <a:lumMod val="60000"/>
                    <a:lumOff val="40000"/>
                  </a:schemeClr>
                </a:solidFill>
              </a:rPr>
              <a:t>This project focuses on analyzing employee survey data through exploratory data analysis (EDA) to uncover meaningful insights. It helps identify factors influencing employee satisfaction and highlights areas that need improvement. The findings from this analysis can assist organizations in enhancing workplace culture, boosting employee engagement, and supporting data-driven decision-making.</a:t>
            </a:r>
          </a:p>
          <a:p>
            <a:endParaRPr lang="en-IN" sz="2200" dirty="0">
              <a:solidFill>
                <a:schemeClr val="accent5">
                  <a:lumMod val="60000"/>
                  <a:lumOff val="40000"/>
                </a:schemeClr>
              </a:solidFill>
            </a:endParaRPr>
          </a:p>
        </p:txBody>
      </p:sp>
    </p:spTree>
    <p:extLst>
      <p:ext uri="{BB962C8B-B14F-4D97-AF65-F5344CB8AC3E}">
        <p14:creationId xmlns:p14="http://schemas.microsoft.com/office/powerpoint/2010/main" val="2601894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317</TotalTime>
  <Words>475</Words>
  <Application>Microsoft Office PowerPoint</Application>
  <PresentationFormat>On-screen Show (4:3)</PresentationFormat>
  <Paragraphs>61</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Om  Nimmalwar</cp:lastModifiedBy>
  <cp:revision>5</cp:revision>
  <dcterms:created xsi:type="dcterms:W3CDTF">2013-01-27T09:14:16Z</dcterms:created>
  <dcterms:modified xsi:type="dcterms:W3CDTF">2025-10-31T19:35:13Z</dcterms:modified>
  <cp:category/>
</cp:coreProperties>
</file>